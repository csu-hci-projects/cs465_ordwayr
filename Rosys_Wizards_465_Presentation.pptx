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4" r:id="rId4"/>
    <p:sldId id="260" r:id="rId5"/>
    <p:sldId id="272" r:id="rId6"/>
    <p:sldId id="271" r:id="rId7"/>
    <p:sldId id="273" r:id="rId8"/>
    <p:sldId id="275" r:id="rId9"/>
    <p:sldId id="262" r:id="rId10"/>
    <p:sldId id="263" r:id="rId11"/>
    <p:sldId id="265" r:id="rId12"/>
    <p:sldId id="266" r:id="rId13"/>
    <p:sldId id="277" r:id="rId14"/>
    <p:sldId id="278" r:id="rId15"/>
    <p:sldId id="279" r:id="rId16"/>
    <p:sldId id="281" r:id="rId17"/>
    <p:sldId id="280" r:id="rId18"/>
    <p:sldId id="282" r:id="rId19"/>
    <p:sldId id="267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6" d="100"/>
          <a:sy n="156" d="100"/>
        </p:scale>
        <p:origin x="1062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E1FF9D-821E-46A5-8C79-32052AAC7460}" type="doc">
      <dgm:prSet loTypeId="urn:microsoft.com/office/officeart/2008/layout/LinedList" loCatId="list" qsTypeId="urn:microsoft.com/office/officeart/2005/8/quickstyle/simple2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81704FD1-E6BC-42CA-A051-56A40D390059}">
      <dgm:prSet/>
      <dgm:spPr/>
      <dgm:t>
        <a:bodyPr/>
        <a:lstStyle/>
        <a:p>
          <a:r>
            <a:rPr lang="en-US"/>
            <a:t>Tutorial Input Average </a:t>
          </a:r>
        </a:p>
      </dgm:t>
    </dgm:pt>
    <dgm:pt modelId="{EF31D4E9-3157-4976-BAAE-08EE5BB027E5}" type="parTrans" cxnId="{6A98776B-6FA5-4962-B96A-F43901264244}">
      <dgm:prSet/>
      <dgm:spPr/>
      <dgm:t>
        <a:bodyPr/>
        <a:lstStyle/>
        <a:p>
          <a:endParaRPr lang="en-US"/>
        </a:p>
      </dgm:t>
    </dgm:pt>
    <dgm:pt modelId="{9C8843A6-1BEB-46BB-AC46-73B3DB815C12}" type="sibTrans" cxnId="{6A98776B-6FA5-4962-B96A-F43901264244}">
      <dgm:prSet/>
      <dgm:spPr/>
      <dgm:t>
        <a:bodyPr/>
        <a:lstStyle/>
        <a:p>
          <a:endParaRPr lang="en-US"/>
        </a:p>
      </dgm:t>
    </dgm:pt>
    <dgm:pt modelId="{3F01806D-0769-426E-A2FD-4239C14BC126}">
      <dgm:prSet/>
      <dgm:spPr/>
      <dgm:t>
        <a:bodyPr/>
        <a:lstStyle/>
        <a:p>
          <a:r>
            <a:rPr lang="en-US"/>
            <a:t>Glyph Lesson Input Average </a:t>
          </a:r>
        </a:p>
      </dgm:t>
    </dgm:pt>
    <dgm:pt modelId="{6A06CF36-8181-424B-8D36-0D89CFB587DC}" type="parTrans" cxnId="{714EE402-02A7-4731-B5F1-39AB3128642E}">
      <dgm:prSet/>
      <dgm:spPr/>
      <dgm:t>
        <a:bodyPr/>
        <a:lstStyle/>
        <a:p>
          <a:endParaRPr lang="en-US"/>
        </a:p>
      </dgm:t>
    </dgm:pt>
    <dgm:pt modelId="{04352368-FFEF-4BDF-901F-D0002A279135}" type="sibTrans" cxnId="{714EE402-02A7-4731-B5F1-39AB3128642E}">
      <dgm:prSet/>
      <dgm:spPr/>
      <dgm:t>
        <a:bodyPr/>
        <a:lstStyle/>
        <a:p>
          <a:endParaRPr lang="en-US"/>
        </a:p>
      </dgm:t>
    </dgm:pt>
    <dgm:pt modelId="{44C58865-330E-498C-811D-829D322298FC}">
      <dgm:prSet/>
      <dgm:spPr/>
      <dgm:t>
        <a:bodyPr/>
        <a:lstStyle/>
        <a:p>
          <a:r>
            <a:rPr lang="en-US"/>
            <a:t>Spell lesson input average  </a:t>
          </a:r>
        </a:p>
      </dgm:t>
    </dgm:pt>
    <dgm:pt modelId="{CEF629E5-08CB-4CC1-98BB-65242C91BC61}" type="parTrans" cxnId="{F294A42F-7D91-47EE-9EB2-1A3EBF9465B6}">
      <dgm:prSet/>
      <dgm:spPr/>
      <dgm:t>
        <a:bodyPr/>
        <a:lstStyle/>
        <a:p>
          <a:endParaRPr lang="en-US"/>
        </a:p>
      </dgm:t>
    </dgm:pt>
    <dgm:pt modelId="{05A1ADDB-A123-4A97-95FE-61F7FD196252}" type="sibTrans" cxnId="{F294A42F-7D91-47EE-9EB2-1A3EBF9465B6}">
      <dgm:prSet/>
      <dgm:spPr/>
      <dgm:t>
        <a:bodyPr/>
        <a:lstStyle/>
        <a:p>
          <a:endParaRPr lang="en-US"/>
        </a:p>
      </dgm:t>
    </dgm:pt>
    <dgm:pt modelId="{E7365CBA-6A80-49FE-90DF-41E4A62B1F93}" type="pres">
      <dgm:prSet presAssocID="{BDE1FF9D-821E-46A5-8C79-32052AAC7460}" presName="vert0" presStyleCnt="0">
        <dgm:presLayoutVars>
          <dgm:dir/>
          <dgm:animOne val="branch"/>
          <dgm:animLvl val="lvl"/>
        </dgm:presLayoutVars>
      </dgm:prSet>
      <dgm:spPr/>
    </dgm:pt>
    <dgm:pt modelId="{F05FCD15-4855-46B0-B046-56BD266C6BB5}" type="pres">
      <dgm:prSet presAssocID="{81704FD1-E6BC-42CA-A051-56A40D390059}" presName="thickLine" presStyleLbl="alignNode1" presStyleIdx="0" presStyleCnt="3"/>
      <dgm:spPr/>
    </dgm:pt>
    <dgm:pt modelId="{AA6E773F-8503-4832-B869-ED5F1BE772E6}" type="pres">
      <dgm:prSet presAssocID="{81704FD1-E6BC-42CA-A051-56A40D390059}" presName="horz1" presStyleCnt="0"/>
      <dgm:spPr/>
    </dgm:pt>
    <dgm:pt modelId="{877200C7-02BF-48DF-BE7E-413882B3BE5A}" type="pres">
      <dgm:prSet presAssocID="{81704FD1-E6BC-42CA-A051-56A40D390059}" presName="tx1" presStyleLbl="revTx" presStyleIdx="0" presStyleCnt="3"/>
      <dgm:spPr/>
    </dgm:pt>
    <dgm:pt modelId="{43E1D62C-D8B7-4F62-A68D-9A3B24660338}" type="pres">
      <dgm:prSet presAssocID="{81704FD1-E6BC-42CA-A051-56A40D390059}" presName="vert1" presStyleCnt="0"/>
      <dgm:spPr/>
    </dgm:pt>
    <dgm:pt modelId="{F1FA2E9A-1FB4-4FAA-B619-24A519422DD8}" type="pres">
      <dgm:prSet presAssocID="{3F01806D-0769-426E-A2FD-4239C14BC126}" presName="thickLine" presStyleLbl="alignNode1" presStyleIdx="1" presStyleCnt="3"/>
      <dgm:spPr/>
    </dgm:pt>
    <dgm:pt modelId="{ED5B79EB-5B90-4691-8399-498B350B87A2}" type="pres">
      <dgm:prSet presAssocID="{3F01806D-0769-426E-A2FD-4239C14BC126}" presName="horz1" presStyleCnt="0"/>
      <dgm:spPr/>
    </dgm:pt>
    <dgm:pt modelId="{6B306B14-33C3-419F-B1D6-33E53F3282EE}" type="pres">
      <dgm:prSet presAssocID="{3F01806D-0769-426E-A2FD-4239C14BC126}" presName="tx1" presStyleLbl="revTx" presStyleIdx="1" presStyleCnt="3"/>
      <dgm:spPr/>
    </dgm:pt>
    <dgm:pt modelId="{64785000-30E7-4ABF-84AB-7EAC3268C020}" type="pres">
      <dgm:prSet presAssocID="{3F01806D-0769-426E-A2FD-4239C14BC126}" presName="vert1" presStyleCnt="0"/>
      <dgm:spPr/>
    </dgm:pt>
    <dgm:pt modelId="{4088CB44-A28C-4EC1-9734-127C98581D19}" type="pres">
      <dgm:prSet presAssocID="{44C58865-330E-498C-811D-829D322298FC}" presName="thickLine" presStyleLbl="alignNode1" presStyleIdx="2" presStyleCnt="3"/>
      <dgm:spPr/>
    </dgm:pt>
    <dgm:pt modelId="{809EC3E6-37E2-4797-BF58-6203BAD64116}" type="pres">
      <dgm:prSet presAssocID="{44C58865-330E-498C-811D-829D322298FC}" presName="horz1" presStyleCnt="0"/>
      <dgm:spPr/>
    </dgm:pt>
    <dgm:pt modelId="{57823C16-91EE-4258-9E5D-C3FCB72279D0}" type="pres">
      <dgm:prSet presAssocID="{44C58865-330E-498C-811D-829D322298FC}" presName="tx1" presStyleLbl="revTx" presStyleIdx="2" presStyleCnt="3"/>
      <dgm:spPr/>
    </dgm:pt>
    <dgm:pt modelId="{09123208-B891-4156-B4D6-2288D6A24E15}" type="pres">
      <dgm:prSet presAssocID="{44C58865-330E-498C-811D-829D322298FC}" presName="vert1" presStyleCnt="0"/>
      <dgm:spPr/>
    </dgm:pt>
  </dgm:ptLst>
  <dgm:cxnLst>
    <dgm:cxn modelId="{714EE402-02A7-4731-B5F1-39AB3128642E}" srcId="{BDE1FF9D-821E-46A5-8C79-32052AAC7460}" destId="{3F01806D-0769-426E-A2FD-4239C14BC126}" srcOrd="1" destOrd="0" parTransId="{6A06CF36-8181-424B-8D36-0D89CFB587DC}" sibTransId="{04352368-FFEF-4BDF-901F-D0002A279135}"/>
    <dgm:cxn modelId="{A5761A1F-1635-4779-92F5-15A8C4E71211}" type="presOf" srcId="{44C58865-330E-498C-811D-829D322298FC}" destId="{57823C16-91EE-4258-9E5D-C3FCB72279D0}" srcOrd="0" destOrd="0" presId="urn:microsoft.com/office/officeart/2008/layout/LinedList"/>
    <dgm:cxn modelId="{F294A42F-7D91-47EE-9EB2-1A3EBF9465B6}" srcId="{BDE1FF9D-821E-46A5-8C79-32052AAC7460}" destId="{44C58865-330E-498C-811D-829D322298FC}" srcOrd="2" destOrd="0" parTransId="{CEF629E5-08CB-4CC1-98BB-65242C91BC61}" sibTransId="{05A1ADDB-A123-4A97-95FE-61F7FD196252}"/>
    <dgm:cxn modelId="{B6BE6D3C-540F-489E-B4BD-BF375F20D2A6}" type="presOf" srcId="{3F01806D-0769-426E-A2FD-4239C14BC126}" destId="{6B306B14-33C3-419F-B1D6-33E53F3282EE}" srcOrd="0" destOrd="0" presId="urn:microsoft.com/office/officeart/2008/layout/LinedList"/>
    <dgm:cxn modelId="{6A98776B-6FA5-4962-B96A-F43901264244}" srcId="{BDE1FF9D-821E-46A5-8C79-32052AAC7460}" destId="{81704FD1-E6BC-42CA-A051-56A40D390059}" srcOrd="0" destOrd="0" parTransId="{EF31D4E9-3157-4976-BAAE-08EE5BB027E5}" sibTransId="{9C8843A6-1BEB-46BB-AC46-73B3DB815C12}"/>
    <dgm:cxn modelId="{281D6393-9DE6-404B-A553-6448A37EC14A}" type="presOf" srcId="{BDE1FF9D-821E-46A5-8C79-32052AAC7460}" destId="{E7365CBA-6A80-49FE-90DF-41E4A62B1F93}" srcOrd="0" destOrd="0" presId="urn:microsoft.com/office/officeart/2008/layout/LinedList"/>
    <dgm:cxn modelId="{3BB4199C-AFE5-43D3-B076-0C3CF55D1C5D}" type="presOf" srcId="{81704FD1-E6BC-42CA-A051-56A40D390059}" destId="{877200C7-02BF-48DF-BE7E-413882B3BE5A}" srcOrd="0" destOrd="0" presId="urn:microsoft.com/office/officeart/2008/layout/LinedList"/>
    <dgm:cxn modelId="{85B827C5-1513-47ED-AC4C-B4BEE755C150}" type="presParOf" srcId="{E7365CBA-6A80-49FE-90DF-41E4A62B1F93}" destId="{F05FCD15-4855-46B0-B046-56BD266C6BB5}" srcOrd="0" destOrd="0" presId="urn:microsoft.com/office/officeart/2008/layout/LinedList"/>
    <dgm:cxn modelId="{B3158DEB-DC8B-4548-9B15-5303BBA5FDE4}" type="presParOf" srcId="{E7365CBA-6A80-49FE-90DF-41E4A62B1F93}" destId="{AA6E773F-8503-4832-B869-ED5F1BE772E6}" srcOrd="1" destOrd="0" presId="urn:microsoft.com/office/officeart/2008/layout/LinedList"/>
    <dgm:cxn modelId="{17AF0B11-A7D9-4DE5-A666-6575CED59EAF}" type="presParOf" srcId="{AA6E773F-8503-4832-B869-ED5F1BE772E6}" destId="{877200C7-02BF-48DF-BE7E-413882B3BE5A}" srcOrd="0" destOrd="0" presId="urn:microsoft.com/office/officeart/2008/layout/LinedList"/>
    <dgm:cxn modelId="{3B56AD28-2D1B-4F3E-965D-83F9CBA4AC08}" type="presParOf" srcId="{AA6E773F-8503-4832-B869-ED5F1BE772E6}" destId="{43E1D62C-D8B7-4F62-A68D-9A3B24660338}" srcOrd="1" destOrd="0" presId="urn:microsoft.com/office/officeart/2008/layout/LinedList"/>
    <dgm:cxn modelId="{3D63F83A-0EA2-4613-ACFF-9298F8D4DBFE}" type="presParOf" srcId="{E7365CBA-6A80-49FE-90DF-41E4A62B1F93}" destId="{F1FA2E9A-1FB4-4FAA-B619-24A519422DD8}" srcOrd="2" destOrd="0" presId="urn:microsoft.com/office/officeart/2008/layout/LinedList"/>
    <dgm:cxn modelId="{1C1B97F9-66CC-4C71-A2DB-3F982B968367}" type="presParOf" srcId="{E7365CBA-6A80-49FE-90DF-41E4A62B1F93}" destId="{ED5B79EB-5B90-4691-8399-498B350B87A2}" srcOrd="3" destOrd="0" presId="urn:microsoft.com/office/officeart/2008/layout/LinedList"/>
    <dgm:cxn modelId="{0B8D2C2B-C02F-43EF-9151-4025E4C8F06F}" type="presParOf" srcId="{ED5B79EB-5B90-4691-8399-498B350B87A2}" destId="{6B306B14-33C3-419F-B1D6-33E53F3282EE}" srcOrd="0" destOrd="0" presId="urn:microsoft.com/office/officeart/2008/layout/LinedList"/>
    <dgm:cxn modelId="{17BC1E5E-574A-4F4C-A406-8F57A7A04C74}" type="presParOf" srcId="{ED5B79EB-5B90-4691-8399-498B350B87A2}" destId="{64785000-30E7-4ABF-84AB-7EAC3268C020}" srcOrd="1" destOrd="0" presId="urn:microsoft.com/office/officeart/2008/layout/LinedList"/>
    <dgm:cxn modelId="{D006F57C-F6F8-47A1-8DBE-5F9FCD876163}" type="presParOf" srcId="{E7365CBA-6A80-49FE-90DF-41E4A62B1F93}" destId="{4088CB44-A28C-4EC1-9734-127C98581D19}" srcOrd="4" destOrd="0" presId="urn:microsoft.com/office/officeart/2008/layout/LinedList"/>
    <dgm:cxn modelId="{8B20F40D-9FA7-4561-918A-F259034C9BB4}" type="presParOf" srcId="{E7365CBA-6A80-49FE-90DF-41E4A62B1F93}" destId="{809EC3E6-37E2-4797-BF58-6203BAD64116}" srcOrd="5" destOrd="0" presId="urn:microsoft.com/office/officeart/2008/layout/LinedList"/>
    <dgm:cxn modelId="{1F1FE452-637D-42E8-B883-1DAC2BA9472E}" type="presParOf" srcId="{809EC3E6-37E2-4797-BF58-6203BAD64116}" destId="{57823C16-91EE-4258-9E5D-C3FCB72279D0}" srcOrd="0" destOrd="0" presId="urn:microsoft.com/office/officeart/2008/layout/LinedList"/>
    <dgm:cxn modelId="{8D593CB1-9243-451A-9712-41CEF7692164}" type="presParOf" srcId="{809EC3E6-37E2-4797-BF58-6203BAD64116}" destId="{09123208-B891-4156-B4D6-2288D6A24E1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5FCD15-4855-46B0-B046-56BD266C6BB5}">
      <dsp:nvSpPr>
        <dsp:cNvPr id="0" name=""/>
        <dsp:cNvSpPr/>
      </dsp:nvSpPr>
      <dsp:spPr>
        <a:xfrm>
          <a:off x="0" y="760"/>
          <a:ext cx="4940186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877200C7-02BF-48DF-BE7E-413882B3BE5A}">
      <dsp:nvSpPr>
        <dsp:cNvPr id="0" name=""/>
        <dsp:cNvSpPr/>
      </dsp:nvSpPr>
      <dsp:spPr>
        <a:xfrm>
          <a:off x="0" y="760"/>
          <a:ext cx="4940186" cy="5184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Tutorial Input Average </a:t>
          </a:r>
        </a:p>
      </dsp:txBody>
      <dsp:txXfrm>
        <a:off x="0" y="760"/>
        <a:ext cx="4940186" cy="518462"/>
      </dsp:txXfrm>
    </dsp:sp>
    <dsp:sp modelId="{F1FA2E9A-1FB4-4FAA-B619-24A519422DD8}">
      <dsp:nvSpPr>
        <dsp:cNvPr id="0" name=""/>
        <dsp:cNvSpPr/>
      </dsp:nvSpPr>
      <dsp:spPr>
        <a:xfrm>
          <a:off x="0" y="519222"/>
          <a:ext cx="4940186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6B306B14-33C3-419F-B1D6-33E53F3282EE}">
      <dsp:nvSpPr>
        <dsp:cNvPr id="0" name=""/>
        <dsp:cNvSpPr/>
      </dsp:nvSpPr>
      <dsp:spPr>
        <a:xfrm>
          <a:off x="0" y="519222"/>
          <a:ext cx="4940186" cy="5184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Glyph Lesson Input Average </a:t>
          </a:r>
        </a:p>
      </dsp:txBody>
      <dsp:txXfrm>
        <a:off x="0" y="519222"/>
        <a:ext cx="4940186" cy="518462"/>
      </dsp:txXfrm>
    </dsp:sp>
    <dsp:sp modelId="{4088CB44-A28C-4EC1-9734-127C98581D19}">
      <dsp:nvSpPr>
        <dsp:cNvPr id="0" name=""/>
        <dsp:cNvSpPr/>
      </dsp:nvSpPr>
      <dsp:spPr>
        <a:xfrm>
          <a:off x="0" y="1037684"/>
          <a:ext cx="4940186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57823C16-91EE-4258-9E5D-C3FCB72279D0}">
      <dsp:nvSpPr>
        <dsp:cNvPr id="0" name=""/>
        <dsp:cNvSpPr/>
      </dsp:nvSpPr>
      <dsp:spPr>
        <a:xfrm>
          <a:off x="0" y="1037684"/>
          <a:ext cx="4940186" cy="5184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Spell lesson input average  </a:t>
          </a:r>
        </a:p>
      </dsp:txBody>
      <dsp:txXfrm>
        <a:off x="0" y="1037684"/>
        <a:ext cx="4940186" cy="51846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E7AA7E8-8006-4E1F-A566-FCF37EE6F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182" y="1598246"/>
            <a:ext cx="3470032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7000">
                <a:solidFill>
                  <a:srgbClr val="FFFFFF"/>
                </a:solidFill>
              </a:rPr>
              <a:t>Rosy's Wizards 465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44745" y="1590840"/>
            <a:ext cx="4254132" cy="5095221"/>
          </a:xfrm>
        </p:spPr>
        <p:txBody>
          <a:bodyPr>
            <a:normAutofit/>
          </a:bodyPr>
          <a:lstStyle/>
          <a:p>
            <a:pPr algn="l"/>
            <a:r>
              <a:rPr lang="en-US" sz="3800">
                <a:solidFill>
                  <a:srgbClr val="FFFFFF"/>
                </a:solidFill>
              </a:rPr>
              <a:t>Rose Ordway</a:t>
            </a:r>
          </a:p>
          <a:p>
            <a:pPr algn="l"/>
            <a:r>
              <a:rPr lang="en-US" sz="3800">
                <a:solidFill>
                  <a:srgbClr val="FFFFFF"/>
                </a:solidFill>
              </a:rPr>
              <a:t>CS-465-001: Multimodal Interaction for 3D User Interfaces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85491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1051" y="381935"/>
            <a:ext cx="3006438" cy="5974414"/>
          </a:xfrm>
        </p:spPr>
        <p:txBody>
          <a:bodyPr anchor="ctr">
            <a:normAutofit/>
          </a:bodyPr>
          <a:lstStyle/>
          <a:p>
            <a:r>
              <a:rPr lang="en-US" sz="7000">
                <a:solidFill>
                  <a:srgbClr val="FFFFFF"/>
                </a:solidFill>
              </a:rPr>
              <a:t>About the Project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22924" y="518400"/>
            <a:ext cx="3578706" cy="5837949"/>
          </a:xfrm>
        </p:spPr>
        <p:txBody>
          <a:bodyPr anchor="ctr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chemeClr val="tx1">
                    <a:alpha val="80000"/>
                  </a:schemeClr>
                </a:solidFill>
              </a:rPr>
              <a:t>The objective of this project is to create a VR spell-based casting system that utilizes gestures and controller inputs.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chemeClr val="tx1">
                    <a:alpha val="80000"/>
                  </a:schemeClr>
                </a:solidFill>
              </a:rPr>
              <a:t>These control systems will be compared to determine which is the most effective and user-friendly.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chemeClr val="tx1">
                    <a:alpha val="80000"/>
                  </a:schemeClr>
                </a:solidFill>
              </a:rPr>
              <a:t>Meta Quest 3 hand-tracking technology</a:t>
            </a:r>
            <a:endParaRPr lang="en-US" sz="17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327D4-2155-3C60-C983-E8DB54EAC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9332" y="4928180"/>
            <a:ext cx="2640841" cy="1286354"/>
          </a:xfrm>
        </p:spPr>
        <p:txBody>
          <a:bodyPr>
            <a:normAutofit/>
          </a:bodyPr>
          <a:lstStyle/>
          <a:p>
            <a:pPr algn="r"/>
            <a:r>
              <a:rPr lang="en-US" sz="3300"/>
              <a:t>Basic Spell System</a:t>
            </a:r>
          </a:p>
        </p:txBody>
      </p:sp>
      <p:sp>
        <p:nvSpPr>
          <p:cNvPr id="24" name="Right Triangle 23">
            <a:extLst>
              <a:ext uri="{FF2B5EF4-FFF2-40B4-BE49-F238E27FC236}">
                <a16:creationId xmlns:a16="http://schemas.microsoft.com/office/drawing/2014/main" id="{23293907-0F26-4752-BCD0-3AC2C5026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3798" y="635538"/>
            <a:ext cx="510306" cy="849747"/>
          </a:xfrm>
          <a:prstGeom prst="rt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Right Triangle 25">
            <a:extLst>
              <a:ext uri="{FF2B5EF4-FFF2-40B4-BE49-F238E27FC236}">
                <a16:creationId xmlns:a16="http://schemas.microsoft.com/office/drawing/2014/main" id="{08D95D6C-D86A-4549-A89A-3AB6302645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2722" y="-1"/>
            <a:ext cx="819195" cy="1479367"/>
          </a:xfrm>
          <a:prstGeom prst="rt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236AF34-77C9-4760-8838-235578CF4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20819" y="1481744"/>
            <a:ext cx="1168347" cy="1362456"/>
          </a:xfrm>
          <a:custGeom>
            <a:avLst/>
            <a:gdLst>
              <a:gd name="connsiteX0" fmla="*/ 0 w 1557796"/>
              <a:gd name="connsiteY0" fmla="*/ 0 h 1362456"/>
              <a:gd name="connsiteX1" fmla="*/ 1557796 w 1557796"/>
              <a:gd name="connsiteY1" fmla="*/ 0 h 1362456"/>
              <a:gd name="connsiteX2" fmla="*/ 1557796 w 1557796"/>
              <a:gd name="connsiteY2" fmla="*/ 1362456 h 1362456"/>
              <a:gd name="connsiteX3" fmla="*/ 1090945 w 1557796"/>
              <a:gd name="connsiteY3" fmla="*/ 1362456 h 136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57796" h="1362456">
                <a:moveTo>
                  <a:pt x="0" y="0"/>
                </a:moveTo>
                <a:lnTo>
                  <a:pt x="1557796" y="0"/>
                </a:lnTo>
                <a:lnTo>
                  <a:pt x="1557796" y="1362456"/>
                </a:lnTo>
                <a:lnTo>
                  <a:pt x="1090945" y="1362456"/>
                </a:lnTo>
                <a:close/>
              </a:path>
            </a:pathLst>
          </a:cu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0" name="Right Triangle 29">
            <a:extLst>
              <a:ext uri="{FF2B5EF4-FFF2-40B4-BE49-F238E27FC236}">
                <a16:creationId xmlns:a16="http://schemas.microsoft.com/office/drawing/2014/main" id="{51850F73-0C38-46D8-8082-A20B6044BE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7264" y="1480102"/>
            <a:ext cx="819195" cy="1364098"/>
          </a:xfrm>
          <a:prstGeom prst="rt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 descr="A white cross in a circle&#10;&#10;AI-generated content may be incorrect.">
            <a:extLst>
              <a:ext uri="{FF2B5EF4-FFF2-40B4-BE49-F238E27FC236}">
                <a16:creationId xmlns:a16="http://schemas.microsoft.com/office/drawing/2014/main" id="{C4081751-7C1F-01D6-6C60-6E773203DC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59" r="-10" b="2346"/>
          <a:stretch/>
        </p:blipFill>
        <p:spPr>
          <a:xfrm>
            <a:off x="2227380" y="1483803"/>
            <a:ext cx="1492946" cy="1374782"/>
          </a:xfrm>
          <a:prstGeom prst="rect">
            <a:avLst/>
          </a:prstGeom>
        </p:spPr>
      </p:pic>
      <p:pic>
        <p:nvPicPr>
          <p:cNvPr id="12" name="Picture 11" descr="A white arrows and stars on a black background&#10;&#10;AI-generated content may be incorrect.">
            <a:extLst>
              <a:ext uri="{FF2B5EF4-FFF2-40B4-BE49-F238E27FC236}">
                <a16:creationId xmlns:a16="http://schemas.microsoft.com/office/drawing/2014/main" id="{DB067C3D-4E3F-597A-5BA9-A06ABA8CEF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956" r="25579" b="-2"/>
          <a:stretch/>
        </p:blipFill>
        <p:spPr>
          <a:xfrm>
            <a:off x="472595" y="2837669"/>
            <a:ext cx="1758044" cy="3416073"/>
          </a:xfrm>
          <a:prstGeom prst="rect">
            <a:avLst/>
          </a:prstGeom>
        </p:spPr>
      </p:pic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39141A8-FDFD-4ABE-A499-72C9669F4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64157" y="1286480"/>
            <a:ext cx="1371600" cy="1767583"/>
          </a:xfrm>
          <a:custGeom>
            <a:avLst/>
            <a:gdLst>
              <a:gd name="connsiteX0" fmla="*/ 0 w 1371600"/>
              <a:gd name="connsiteY0" fmla="*/ 0 h 2356777"/>
              <a:gd name="connsiteX1" fmla="*/ 0 w 1371600"/>
              <a:gd name="connsiteY1" fmla="*/ 1216152 h 2356777"/>
              <a:gd name="connsiteX2" fmla="*/ 4495 w 1371600"/>
              <a:gd name="connsiteY2" fmla="*/ 1216152 h 2356777"/>
              <a:gd name="connsiteX3" fmla="*/ 4495 w 1371600"/>
              <a:gd name="connsiteY3" fmla="*/ 2356777 h 2356777"/>
              <a:gd name="connsiteX4" fmla="*/ 1367105 w 1371600"/>
              <a:gd name="connsiteY4" fmla="*/ 2356777 h 2356777"/>
              <a:gd name="connsiteX5" fmla="*/ 1367105 w 1371600"/>
              <a:gd name="connsiteY5" fmla="*/ 1216152 h 2356777"/>
              <a:gd name="connsiteX6" fmla="*/ 1371600 w 1371600"/>
              <a:gd name="connsiteY6" fmla="*/ 1216152 h 2356777"/>
              <a:gd name="connsiteX7" fmla="*/ 1367105 w 1371600"/>
              <a:gd name="connsiteY7" fmla="*/ 1212166 h 2356777"/>
              <a:gd name="connsiteX8" fmla="*/ 1367105 w 1371600"/>
              <a:gd name="connsiteY8" fmla="*/ 1210176 h 2356777"/>
              <a:gd name="connsiteX9" fmla="*/ 1364860 w 1371600"/>
              <a:gd name="connsiteY9" fmla="*/ 1210176 h 2356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371600" h="2356777">
                <a:moveTo>
                  <a:pt x="0" y="0"/>
                </a:moveTo>
                <a:lnTo>
                  <a:pt x="0" y="1216152"/>
                </a:lnTo>
                <a:lnTo>
                  <a:pt x="4495" y="1216152"/>
                </a:lnTo>
                <a:lnTo>
                  <a:pt x="4495" y="2356777"/>
                </a:lnTo>
                <a:lnTo>
                  <a:pt x="1367105" y="2356777"/>
                </a:lnTo>
                <a:lnTo>
                  <a:pt x="1367105" y="1216152"/>
                </a:lnTo>
                <a:lnTo>
                  <a:pt x="1371600" y="1216152"/>
                </a:lnTo>
                <a:lnTo>
                  <a:pt x="1367105" y="1212166"/>
                </a:lnTo>
                <a:lnTo>
                  <a:pt x="1367105" y="1210176"/>
                </a:lnTo>
                <a:lnTo>
                  <a:pt x="1364860" y="1210176"/>
                </a:lnTo>
                <a:close/>
              </a:path>
            </a:pathLst>
          </a:cu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A white symbol on a black background&#10;&#10;AI-generated content may be incorrect.">
            <a:extLst>
              <a:ext uri="{FF2B5EF4-FFF2-40B4-BE49-F238E27FC236}">
                <a16:creationId xmlns:a16="http://schemas.microsoft.com/office/drawing/2014/main" id="{35ABD8CC-9CA2-5ACB-7667-DF5E19E6FB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363" r="-12" b="1023"/>
          <a:stretch/>
        </p:blipFill>
        <p:spPr>
          <a:xfrm>
            <a:off x="472594" y="626994"/>
            <a:ext cx="912912" cy="863632"/>
          </a:xfrm>
          <a:prstGeom prst="rect">
            <a:avLst/>
          </a:prstGeom>
        </p:spPr>
      </p:pic>
      <p:pic>
        <p:nvPicPr>
          <p:cNvPr id="6" name="Picture 5" descr="A white shield on a black background&#10;&#10;AI-generated content may be incorrect.">
            <a:extLst>
              <a:ext uri="{FF2B5EF4-FFF2-40B4-BE49-F238E27FC236}">
                <a16:creationId xmlns:a16="http://schemas.microsoft.com/office/drawing/2014/main" id="{8B261325-3C1F-8760-DCE3-D8D29C6342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438" r="10303" b="-11"/>
          <a:stretch/>
        </p:blipFill>
        <p:spPr>
          <a:xfrm>
            <a:off x="3720327" y="10"/>
            <a:ext cx="1172395" cy="1479358"/>
          </a:xfrm>
          <a:prstGeom prst="rect">
            <a:avLst/>
          </a:prstGeom>
        </p:spPr>
      </p:pic>
      <p:sp>
        <p:nvSpPr>
          <p:cNvPr id="34" name="Right Triangle 33">
            <a:extLst>
              <a:ext uri="{FF2B5EF4-FFF2-40B4-BE49-F238E27FC236}">
                <a16:creationId xmlns:a16="http://schemas.microsoft.com/office/drawing/2014/main" id="{E916EF49-F958-4F28-A999-F8FA8D09AF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409062" y="2437565"/>
            <a:ext cx="244200" cy="406635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Picture 8" descr="A white logo with crossed swords&#10;&#10;AI-generated content may be incorrect.">
            <a:extLst>
              <a:ext uri="{FF2B5EF4-FFF2-40B4-BE49-F238E27FC236}">
                <a16:creationId xmlns:a16="http://schemas.microsoft.com/office/drawing/2014/main" id="{FF6B4B28-8CFC-9F0A-8652-2C1B916BFE0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4341" r="-1" b="12770"/>
          <a:stretch/>
        </p:blipFill>
        <p:spPr>
          <a:xfrm>
            <a:off x="5650171" y="635538"/>
            <a:ext cx="3021233" cy="2202131"/>
          </a:xfrm>
          <a:prstGeom prst="rect">
            <a:avLst/>
          </a:prstGeom>
        </p:spPr>
      </p:pic>
      <p:sp>
        <p:nvSpPr>
          <p:cNvPr id="36" name="Right Triangle 35">
            <a:extLst>
              <a:ext uri="{FF2B5EF4-FFF2-40B4-BE49-F238E27FC236}">
                <a16:creationId xmlns:a16="http://schemas.microsoft.com/office/drawing/2014/main" id="{A7665D74-DFEA-412C-928C-F090E67084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1702799" y="3379588"/>
            <a:ext cx="1881096" cy="819195"/>
          </a:xfrm>
          <a:prstGeom prst="rtTriangl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6" name="Picture 15" descr="A group of white chains&#10;&#10;AI-generated content may be incorrect.">
            <a:extLst>
              <a:ext uri="{FF2B5EF4-FFF2-40B4-BE49-F238E27FC236}">
                <a16:creationId xmlns:a16="http://schemas.microsoft.com/office/drawing/2014/main" id="{F8655016-842F-433A-9B78-B3859DEEA02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3226" b="14005"/>
          <a:stretch/>
        </p:blipFill>
        <p:spPr>
          <a:xfrm>
            <a:off x="3046575" y="2837670"/>
            <a:ext cx="2603598" cy="1894630"/>
          </a:xfrm>
          <a:prstGeom prst="rect">
            <a:avLst/>
          </a:prstGeom>
        </p:spPr>
      </p:pic>
      <p:sp>
        <p:nvSpPr>
          <p:cNvPr id="38" name="Right Triangle 37">
            <a:extLst>
              <a:ext uri="{FF2B5EF4-FFF2-40B4-BE49-F238E27FC236}">
                <a16:creationId xmlns:a16="http://schemas.microsoft.com/office/drawing/2014/main" id="{837A7BE2-DF08-4ECE-A520-13927DBF4C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900281" y="5087080"/>
            <a:ext cx="1495517" cy="837806"/>
          </a:xfrm>
          <a:prstGeom prst="rtTriangle">
            <a:avLst/>
          </a:prstGeom>
          <a:solidFill>
            <a:schemeClr val="accent3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08FA-7591-DDF8-807F-CF6A76A79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1472" y="3153048"/>
            <a:ext cx="2779933" cy="3061485"/>
          </a:xfrm>
        </p:spPr>
        <p:txBody>
          <a:bodyPr anchor="ctr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/>
              <a:t>Four basic glyphs: 🛡️ Defense, ⚔️ Attack, ❤️ Healing, ✨ Buff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/>
              <a:t>Two connector glyphs: ⛓️ Link, 🪢 Weave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/>
              <a:t>Create glyphs using three gestures or inputs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/>
              <a:t>Examples: A, B, A (controller), Peace, Rocker, Fist (gesture)</a:t>
            </a:r>
          </a:p>
          <a:p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5438538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3798" y="525982"/>
            <a:ext cx="3212237" cy="120036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1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Systems Overview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2399" y="1944913"/>
            <a:ext cx="301752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96337F-47F9-FD16-FAA8-5AB24432B4D6}"/>
              </a:ext>
            </a:extLst>
          </p:cNvPr>
          <p:cNvSpPr txBox="1"/>
          <p:nvPr/>
        </p:nvSpPr>
        <p:spPr>
          <a:xfrm>
            <a:off x="483799" y="2031101"/>
            <a:ext cx="3212238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The project uses multimodal interactions to cast spells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61965" y="6072626"/>
            <a:ext cx="740664" cy="11559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36109" y="1694387"/>
            <a:ext cx="740664" cy="887511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72594" y="354959"/>
            <a:ext cx="4638730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table with black text and black text&#10;&#10;AI-generated content may be incorrect.">
            <a:extLst>
              <a:ext uri="{FF2B5EF4-FFF2-40B4-BE49-F238E27FC236}">
                <a16:creationId xmlns:a16="http://schemas.microsoft.com/office/drawing/2014/main" id="{CBD60655-DF7C-07BE-A932-F4601FFC0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0803" y="2386122"/>
            <a:ext cx="4221014" cy="185288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AB902CB9-C7DC-4673-B7D5-F22DCF0EC5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9CF454-6575-907F-81F1-65C5F23D4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443914"/>
            <a:ext cx="7886696" cy="1499852"/>
          </a:xfrm>
        </p:spPr>
        <p:txBody>
          <a:bodyPr anchor="b">
            <a:norm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Control Types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7FBD7EF-228C-716E-10D0-1233C2E15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33" y="703851"/>
            <a:ext cx="1502935" cy="3036235"/>
          </a:xfrm>
          <a:prstGeom prst="rect">
            <a:avLst/>
          </a:prstGeom>
        </p:spPr>
      </p:pic>
      <p:pic>
        <p:nvPicPr>
          <p:cNvPr id="11" name="Picture 10" descr="A screenshot of a phone&#10;&#10;AI-generated content may be incorrect.">
            <a:extLst>
              <a:ext uri="{FF2B5EF4-FFF2-40B4-BE49-F238E27FC236}">
                <a16:creationId xmlns:a16="http://schemas.microsoft.com/office/drawing/2014/main" id="{A680BFD9-B2DE-D1EF-F005-1678256EC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508" y="703851"/>
            <a:ext cx="1540888" cy="3036235"/>
          </a:xfrm>
          <a:prstGeom prst="rect">
            <a:avLst/>
          </a:prstGeom>
        </p:spPr>
      </p:pic>
      <p:pic>
        <p:nvPicPr>
          <p:cNvPr id="13" name="Picture 12" descr="A screenshot of a computer game&#10;&#10;AI-generated content may be incorrect.">
            <a:extLst>
              <a:ext uri="{FF2B5EF4-FFF2-40B4-BE49-F238E27FC236}">
                <a16:creationId xmlns:a16="http://schemas.microsoft.com/office/drawing/2014/main" id="{914C450E-89B8-8163-E2F7-1008046CB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87" y="703851"/>
            <a:ext cx="1540888" cy="3036235"/>
          </a:xfrm>
          <a:prstGeom prst="rect">
            <a:avLst/>
          </a:prstGeom>
        </p:spPr>
      </p:pic>
      <p:pic>
        <p:nvPicPr>
          <p:cNvPr id="9" name="Picture 8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54259F9D-5969-11C9-DFD1-986D6D9A0D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6665" y="703851"/>
            <a:ext cx="1540888" cy="3036235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97E9C05-0AD9-4E08-E966-6E720BDC90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8843" y="703851"/>
            <a:ext cx="1563660" cy="303623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15FD9-A264-CE49-4442-5A7C470F4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5115481"/>
            <a:ext cx="7886696" cy="1493070"/>
          </a:xfrm>
        </p:spPr>
        <p:txBody>
          <a:bodyPr>
            <a:normAutofit/>
          </a:bodyPr>
          <a:lstStyle/>
          <a:p>
            <a:pPr algn="ctr"/>
            <a:r>
              <a:rPr lang="en-US" sz="1700" dirty="0">
                <a:solidFill>
                  <a:schemeClr val="bg1"/>
                </a:solidFill>
              </a:rPr>
              <a:t>Each control type has a different way of creating glyphs</a:t>
            </a:r>
          </a:p>
          <a:p>
            <a:pPr algn="ctr"/>
            <a:r>
              <a:rPr lang="en-US" sz="1700" dirty="0">
                <a:solidFill>
                  <a:schemeClr val="bg1"/>
                </a:solidFill>
              </a:rPr>
              <a:t>The control schemes were shown to the user throughout their playthrough</a:t>
            </a:r>
          </a:p>
        </p:txBody>
      </p:sp>
    </p:spTree>
    <p:extLst>
      <p:ext uri="{BB962C8B-B14F-4D97-AF65-F5344CB8AC3E}">
        <p14:creationId xmlns:p14="http://schemas.microsoft.com/office/powerpoint/2010/main" val="3939727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66E48AFA-8884-4F68-A44F-D2C1E8609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BE9B34-1B37-C675-33A8-DBB1E1E6F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998018"/>
            <a:ext cx="2986391" cy="2216513"/>
          </a:xfrm>
        </p:spPr>
        <p:txBody>
          <a:bodyPr>
            <a:normAutofit/>
          </a:bodyPr>
          <a:lstStyle/>
          <a:p>
            <a:r>
              <a:rPr lang="en-US" kern="1200">
                <a:latin typeface="+mj-lt"/>
                <a:ea typeface="+mj-ea"/>
                <a:cs typeface="+mj-cs"/>
              </a:rPr>
              <a:t>Controllers</a:t>
            </a:r>
            <a:endParaRPr lang="en-US" dirty="0"/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969D19A6-08CB-498C-93EC-3FFB021FC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6164896" y="3712762"/>
            <a:ext cx="2987899" cy="2240924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4C68C0-9AB5-BC84-6DD2-731C3B2738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35" y="1031470"/>
            <a:ext cx="8154129" cy="2303540"/>
          </a:xfrm>
          <a:custGeom>
            <a:avLst/>
            <a:gdLst/>
            <a:ahLst/>
            <a:cxnLst/>
            <a:rect l="l" t="t" r="r" b="b"/>
            <a:pathLst>
              <a:path w="10580201" h="2957472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0E859-16FC-3A9D-A085-C89A8B1BD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8126" y="3998019"/>
            <a:ext cx="4787224" cy="221651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200"/>
              <a:t>Controllers uses the button inputs to create glyphs</a:t>
            </a:r>
          </a:p>
          <a:p>
            <a:pPr>
              <a:lnSpc>
                <a:spcPct val="90000"/>
              </a:lnSpc>
            </a:pPr>
            <a:r>
              <a:rPr lang="en-US" sz="2200"/>
              <a:t>C1H uses either hand to press the correct button for a glyph</a:t>
            </a:r>
          </a:p>
          <a:p>
            <a:pPr>
              <a:lnSpc>
                <a:spcPct val="90000"/>
              </a:lnSpc>
            </a:pPr>
            <a:r>
              <a:rPr lang="en-US" sz="2200"/>
              <a:t>C2H uses both hands to press the correct button on both controller</a:t>
            </a:r>
          </a:p>
        </p:txBody>
      </p:sp>
    </p:spTree>
    <p:extLst>
      <p:ext uri="{BB962C8B-B14F-4D97-AF65-F5344CB8AC3E}">
        <p14:creationId xmlns:p14="http://schemas.microsoft.com/office/powerpoint/2010/main" val="2390058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43BDF-0DDF-8291-5B7A-C8648D51D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CEF6118E-44FB-4509-B4D9-129052E4C6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20422E-11E3-AEE4-85B8-6BAC069B3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366" y="-1326218"/>
            <a:ext cx="2989616" cy="2806506"/>
          </a:xfrm>
        </p:spPr>
        <p:txBody>
          <a:bodyPr anchor="b">
            <a:normAutofit/>
          </a:bodyPr>
          <a:lstStyle/>
          <a:p>
            <a:r>
              <a:rPr lang="en-US" sz="3500" kern="1200" dirty="0">
                <a:latin typeface="+mj-lt"/>
                <a:ea typeface="+mj-ea"/>
                <a:cs typeface="+mj-cs"/>
              </a:rPr>
              <a:t>Gestures</a:t>
            </a:r>
            <a:endParaRPr lang="en-US" sz="35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567F13-A813-F383-AA15-5383539EAD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4" r="2747" b="-2"/>
          <a:stretch/>
        </p:blipFill>
        <p:spPr>
          <a:xfrm>
            <a:off x="3615982" y="1059841"/>
            <a:ext cx="5352322" cy="208189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599380-1055-EE7C-0498-CAB72DFF0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6366" y="1634394"/>
            <a:ext cx="2989616" cy="2588458"/>
          </a:xfrm>
        </p:spPr>
        <p:txBody>
          <a:bodyPr>
            <a:normAutofit/>
          </a:bodyPr>
          <a:lstStyle/>
          <a:p>
            <a:r>
              <a:rPr lang="en-US" sz="1700" dirty="0"/>
              <a:t>G1H uses either hand to create a single gesture</a:t>
            </a:r>
          </a:p>
          <a:p>
            <a:r>
              <a:rPr lang="en-US" sz="1700" dirty="0"/>
              <a:t>G2H uses both hands to both doing the same gesture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86285F-77B9-2140-4CA1-798E1AE3D8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48" t="-1" r="139" b="-1"/>
          <a:stretch/>
        </p:blipFill>
        <p:spPr>
          <a:xfrm>
            <a:off x="936948" y="3716267"/>
            <a:ext cx="7311754" cy="2158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274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82D7B5-0220-4DCD-AF4E-22B53E29A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195918" y="4577975"/>
            <a:ext cx="5654511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A7EB6C-D84F-CCA6-C3C4-FF5EC740F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601" y="4741948"/>
            <a:ext cx="5122140" cy="8620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Combined Gestures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63211-D0C4-B818-8CB1-ECEBE2E5F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2601" y="5839017"/>
            <a:ext cx="5122140" cy="403749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200" kern="1200">
                <a:solidFill>
                  <a:srgbClr val="E7E6E6"/>
                </a:solidFill>
                <a:latin typeface="+mn-lt"/>
                <a:ea typeface="+mn-ea"/>
                <a:cs typeface="+mn-cs"/>
              </a:rPr>
              <a:t>G2H-C uses both hands to create one symbol therefore creating a glyph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D45C10-E788-5618-F039-0F04634E0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27" y="646690"/>
            <a:ext cx="2848177" cy="1360639"/>
          </a:xfrm>
          <a:prstGeom prst="rect">
            <a:avLst/>
          </a:prstGeom>
        </p:spPr>
      </p:pic>
      <p:pic>
        <p:nvPicPr>
          <p:cNvPr id="11" name="Picture 10" descr="A hands forming a triangle&#10;&#10;AI-generated content may be incorrect.">
            <a:extLst>
              <a:ext uri="{FF2B5EF4-FFF2-40B4-BE49-F238E27FC236}">
                <a16:creationId xmlns:a16="http://schemas.microsoft.com/office/drawing/2014/main" id="{7161F115-7032-B167-3C9A-D75AA9132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60" y="2422097"/>
            <a:ext cx="2581799" cy="2013804"/>
          </a:xfrm>
          <a:prstGeom prst="rect">
            <a:avLst/>
          </a:prstGeom>
        </p:spPr>
      </p:pic>
      <p:pic>
        <p:nvPicPr>
          <p:cNvPr id="15" name="Picture 14" descr="A 3d model of a pair of hands&#10;&#10;AI-generated content may be incorrect.">
            <a:extLst>
              <a:ext uri="{FF2B5EF4-FFF2-40B4-BE49-F238E27FC236}">
                <a16:creationId xmlns:a16="http://schemas.microsoft.com/office/drawing/2014/main" id="{B6E00CCA-1680-15B1-4840-ADE3F7925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911" y="1267803"/>
            <a:ext cx="2845104" cy="2219181"/>
          </a:xfrm>
          <a:prstGeom prst="rect">
            <a:avLst/>
          </a:prstGeom>
        </p:spPr>
      </p:pic>
      <p:pic>
        <p:nvPicPr>
          <p:cNvPr id="13" name="Picture 12" descr="A computer generated image of a cross&#10;&#10;AI-generated content may be incorrect.">
            <a:extLst>
              <a:ext uri="{FF2B5EF4-FFF2-40B4-BE49-F238E27FC236}">
                <a16:creationId xmlns:a16="http://schemas.microsoft.com/office/drawing/2014/main" id="{737EC1F1-058B-34D4-1D72-E463ADC90B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4632" y="1266483"/>
            <a:ext cx="2848488" cy="222182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39950" y="5694097"/>
            <a:ext cx="41148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A close-up of a triangle&#10;&#10;AI-generated content may be incorrect.">
            <a:extLst>
              <a:ext uri="{FF2B5EF4-FFF2-40B4-BE49-F238E27FC236}">
                <a16:creationId xmlns:a16="http://schemas.microsoft.com/office/drawing/2014/main" id="{9FB978E5-2553-30E3-6686-B314C0C522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45" y="4525715"/>
            <a:ext cx="2577629" cy="201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426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EA1DAFF-CECA-492F-BFA1-22C64956B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75420"/>
            <a:ext cx="9036544" cy="4093306"/>
            <a:chOff x="1" y="2075420"/>
            <a:chExt cx="12048729" cy="4093306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3D3744-142C-4653-90AB-546FE6B84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C69CAC-820B-41BA-BFCA-79B45576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3D205E7A-88AB-4C4B-B8D1-5A76AA878B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0D4286E9-8501-4EBF-874C-74897B4B6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45586ADC-910E-45C9-BAB4-CB0EFBEE5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AB594C5-5BB0-49AE-8AAC-AE40A6F8A3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7479052" y="1131512"/>
            <a:ext cx="2796461" cy="533439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444654" y="317578"/>
            <a:ext cx="411480" cy="549007"/>
            <a:chOff x="7029447" y="3514725"/>
            <a:chExt cx="1285875" cy="549007"/>
          </a:xfrm>
        </p:grpSpPr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5" name="Picture 24" descr="A video game screen with a brick wall and a blackboard&#10;&#10;AI-generated content may be incorrect.">
            <a:extLst>
              <a:ext uri="{FF2B5EF4-FFF2-40B4-BE49-F238E27FC236}">
                <a16:creationId xmlns:a16="http://schemas.microsoft.com/office/drawing/2014/main" id="{A01C95B0-C594-9E44-F6AD-C24F641847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" b="18276"/>
          <a:stretch/>
        </p:blipFill>
        <p:spPr>
          <a:xfrm>
            <a:off x="469942" y="317578"/>
            <a:ext cx="8138333" cy="3508437"/>
          </a:xfrm>
          <a:prstGeom prst="rect">
            <a:avLst/>
          </a:prstGeom>
        </p:spPr>
      </p:pic>
      <p:grpSp>
        <p:nvGrpSpPr>
          <p:cNvPr id="50" name="Group 49">
            <a:extLst>
              <a:ext uri="{FF2B5EF4-FFF2-40B4-BE49-F238E27FC236}">
                <a16:creationId xmlns:a16="http://schemas.microsoft.com/office/drawing/2014/main" id="{AF19A774-30A5-488B-9BAF-629C64402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317544" y="536210"/>
            <a:ext cx="304800" cy="322326"/>
            <a:chOff x="215328" y="-46937"/>
            <a:chExt cx="304800" cy="2773841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91EBF88-5B98-4258-A542-14C3AF2E5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FBC2D58-9E3C-490D-BD7A-61EF07EA79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6CF1BB4-1C1D-4EDE-BA26-0243FCF83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00C83729-E02F-4512-AFE7-F4792228B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Rectangle 55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6140785"/>
            <a:ext cx="4571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645785" y="5940560"/>
            <a:ext cx="1285875" cy="549007"/>
            <a:chOff x="7029447" y="3514725"/>
            <a:chExt cx="1285875" cy="549007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4018137"/>
            <a:ext cx="3426795" cy="2129586"/>
          </a:xfrm>
          <a:noFill/>
        </p:spPr>
        <p:txBody>
          <a:bodyPr anchor="t">
            <a:normAutofit/>
          </a:bodyPr>
          <a:lstStyle/>
          <a:p>
            <a:pPr algn="l"/>
            <a:r>
              <a:rPr lang="en-US" sz="4200">
                <a:solidFill>
                  <a:schemeClr val="bg1"/>
                </a:solidFill>
              </a:rPr>
              <a:t>Gameplay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560" y="4018143"/>
            <a:ext cx="4255578" cy="2129599"/>
          </a:xfrm>
          <a:noFill/>
        </p:spPr>
        <p:txBody>
          <a:bodyPr anchor="t">
            <a:normAutofit lnSpcReduction="10000"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bg1"/>
                </a:solidFill>
              </a:rPr>
              <a:t>In-game chalkboard layout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bg1"/>
                </a:solidFill>
              </a:rPr>
              <a:t>Left: “Teacher” board showing the target glyph sequence and progress indicator.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bg1"/>
                </a:solidFill>
              </a:rPr>
              <a:t>Center: Control mapping board listing the current glyph–input assignments.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bg1"/>
                </a:solidFill>
              </a:rPr>
              <a:t>Right: “Student” board where the user’s inputs appear with immediate green/red feedback.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1299" y="321733"/>
            <a:ext cx="8660121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Right Triangle 25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356072" cy="4480726"/>
          </a:xfrm>
        </p:spPr>
        <p:txBody>
          <a:bodyPr>
            <a:normAutofit/>
          </a:bodyPr>
          <a:lstStyle/>
          <a:p>
            <a:pPr algn="r"/>
            <a:r>
              <a:rPr lang="en-US" sz="4000"/>
              <a:t>Objectives &amp; Lessons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54196" y="1338729"/>
            <a:ext cx="3596688" cy="4180542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9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Participants learn which button or gesture produces each glyph</a:t>
            </a:r>
          </a:p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9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Glyph Lesson. Participants combine glyphs to form spells without feedback. Each trial samples 8 from 32 possible sequences of four glyph types (Attack, Defense, Buff, Heal) and two connectors (Link, Weave). </a:t>
            </a:r>
          </a:p>
          <a:p>
            <a:pPr>
              <a:lnSpc>
                <a:spcPct val="90000"/>
              </a:lnSpc>
              <a:defRPr sz="2000">
                <a:solidFill>
                  <a:srgbClr val="FFFFFF"/>
                </a:solidFill>
              </a:defRPr>
            </a:pPr>
            <a:r>
              <a:rPr lang="en-US" sz="19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Spell Lesson. Participants cast 16 spells with real-time visual feedback (spell effects and environmental changes) to simulate the final trial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3F70F2-BF2D-722F-43F3-8973B095C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9C54E95E-EF2B-4F27-9DF4-29FCA95168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person holding a white object&#10;&#10;AI-generated content may be incorrect.">
            <a:extLst>
              <a:ext uri="{FF2B5EF4-FFF2-40B4-BE49-F238E27FC236}">
                <a16:creationId xmlns:a16="http://schemas.microsoft.com/office/drawing/2014/main" id="{4C1B7CD0-3B32-E496-8CB0-843D99A379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" b="13660"/>
          <a:stretch/>
        </p:blipFill>
        <p:spPr>
          <a:xfrm>
            <a:off x="2300289" y="692616"/>
            <a:ext cx="1787106" cy="2743202"/>
          </a:xfrm>
          <a:prstGeom prst="rect">
            <a:avLst/>
          </a:prstGeom>
        </p:spPr>
      </p:pic>
      <p:pic>
        <p:nvPicPr>
          <p:cNvPr id="5" name="Picture 4" descr="A person wearing a virtual reality headset&#10;&#10;AI-generated content may be incorrect.">
            <a:extLst>
              <a:ext uri="{FF2B5EF4-FFF2-40B4-BE49-F238E27FC236}">
                <a16:creationId xmlns:a16="http://schemas.microsoft.com/office/drawing/2014/main" id="{4E5E434C-2F89-A2E9-24E0-3CB4F6EB65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338" r="2667"/>
          <a:stretch/>
        </p:blipFill>
        <p:spPr>
          <a:xfrm>
            <a:off x="514348" y="692621"/>
            <a:ext cx="1810421" cy="27432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9518F4-CD00-487C-2CD8-080AD5407F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1" b="495"/>
          <a:stretch/>
        </p:blipFill>
        <p:spPr>
          <a:xfrm>
            <a:off x="514346" y="3429002"/>
            <a:ext cx="3571875" cy="2743201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B8AF3F2D-63F1-4537-ADE7-A62A71AE95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0" y="0"/>
            <a:ext cx="457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F2A462-6F30-EBB0-9C65-9557BA709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8259" y="685796"/>
            <a:ext cx="3282159" cy="1605521"/>
          </a:xfrm>
        </p:spPr>
        <p:txBody>
          <a:bodyPr anchor="b">
            <a:normAutofit/>
          </a:bodyPr>
          <a:lstStyle/>
          <a:p>
            <a:r>
              <a:rPr lang="en-US" sz="2800">
                <a:solidFill>
                  <a:srgbClr val="595959"/>
                </a:solidFill>
              </a:rPr>
              <a:t>Experiment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A255B-847C-CBAD-FEC1-5FF59F7F8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258" y="2578189"/>
            <a:ext cx="3282159" cy="3594010"/>
          </a:xfrm>
        </p:spPr>
        <p:txBody>
          <a:bodyPr anchor="t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rgbClr val="595959"/>
                </a:solidFill>
              </a:rPr>
              <a:t>15 participants 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Ages 16 to 49 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4 women and 11 men 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M = 21.46, </a:t>
            </a:r>
          </a:p>
          <a:p>
            <a:pPr lvl="1">
              <a:defRPr sz="2000">
                <a:solidFill>
                  <a:srgbClr val="FFFFFF"/>
                </a:solidFill>
              </a:defRPr>
            </a:pPr>
            <a:r>
              <a:rPr lang="en-US" sz="1700">
                <a:solidFill>
                  <a:srgbClr val="595959"/>
                </a:solidFill>
              </a:rPr>
              <a:t>Mdn = 18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rgbClr val="595959"/>
                </a:solidFill>
              </a:rPr>
              <a:t>Participants had varying degrees of experience with VR and gaming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lang="en-US" sz="170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534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0A8D24-8F38-276C-F438-8C53D69B5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92E3F52-F4C3-FA7C-D1A6-66C1B8CE5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F15A1F-E1FA-13DD-0EA0-2F140A414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4049B5-2DF0-675E-813E-F63412235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433" y="381935"/>
            <a:ext cx="3294056" cy="5974414"/>
          </a:xfrm>
        </p:spPr>
        <p:txBody>
          <a:bodyPr anchor="ctr">
            <a:normAutofit/>
          </a:bodyPr>
          <a:lstStyle/>
          <a:p>
            <a:r>
              <a:rPr lang="en-US" sz="4900" dirty="0">
                <a:solidFill>
                  <a:srgbClr val="FFFFFF"/>
                </a:solidFill>
              </a:rPr>
              <a:t>Results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A6FEF64-8713-25D9-6166-63600B6226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4C44A3A2-3D4B-0E1F-BB94-0F5FCE8F62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F14D42CB-0B1D-D812-65E9-3B3E952FFB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482834E6-C4AA-A7CB-9790-2D0FF5A33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97B9B-AF86-A9E9-B1FA-365E51528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2924" y="518400"/>
            <a:ext cx="3578706" cy="5837949"/>
          </a:xfrm>
        </p:spPr>
        <p:txBody>
          <a:bodyPr anchor="ctr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800" dirty="0">
                <a:solidFill>
                  <a:schemeClr val="tx1">
                    <a:alpha val="80000"/>
                  </a:schemeClr>
                </a:solidFill>
              </a:rPr>
              <a:t>Measurements were taken for three different factors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800" dirty="0">
                <a:solidFill>
                  <a:schemeClr val="tx1">
                    <a:alpha val="80000"/>
                  </a:schemeClr>
                </a:solidFill>
              </a:rPr>
              <a:t>Time </a:t>
            </a:r>
          </a:p>
          <a:p>
            <a:pPr lvl="1"/>
            <a:r>
              <a:rPr lang="en-US" sz="1800" dirty="0"/>
              <a:t>Average input time </a:t>
            </a:r>
          </a:p>
          <a:p>
            <a:pPr lvl="1"/>
            <a:r>
              <a:rPr lang="en-US" sz="1800" dirty="0"/>
              <a:t>Lesson completion time</a:t>
            </a:r>
          </a:p>
          <a:p>
            <a:r>
              <a:rPr lang="en-US" sz="1800" dirty="0">
                <a:solidFill>
                  <a:schemeClr val="tx1">
                    <a:alpha val="80000"/>
                  </a:schemeClr>
                </a:solidFill>
              </a:rPr>
              <a:t>Accuracy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800" dirty="0">
                <a:solidFill>
                  <a:schemeClr val="tx1">
                    <a:alpha val="80000"/>
                  </a:schemeClr>
                </a:solidFill>
              </a:rPr>
              <a:t>User preference 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lang="en-US" sz="1700" dirty="0">
              <a:solidFill>
                <a:schemeClr val="tx1">
                  <a:alpha val="80000"/>
                </a:schemeClr>
              </a:solidFill>
            </a:endParaRPr>
          </a:p>
          <a:p>
            <a:pPr>
              <a:defRPr sz="2000">
                <a:solidFill>
                  <a:srgbClr val="FFFFFF"/>
                </a:solidFill>
              </a:defRPr>
            </a:pPr>
            <a:endParaRPr lang="en-US" sz="17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C7A6B1-6044-7681-3EC0-01F14F2F13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67785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700E0F77-E936-4985-B7B1-B9823486AC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4C251E-34D1-5371-7CA7-41540AE35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/>
            <a:r>
              <a:rPr lang="en-US" sz="2800"/>
              <a:t>Average Input Time 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5FFD2E-56CD-E980-BC97-E4784AA1EE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t="1621" r="-2417"/>
          <a:stretch/>
        </p:blipFill>
        <p:spPr>
          <a:xfrm>
            <a:off x="901268" y="257804"/>
            <a:ext cx="7341462" cy="4072575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8" name="TextBox 11">
            <a:extLst>
              <a:ext uri="{FF2B5EF4-FFF2-40B4-BE49-F238E27FC236}">
                <a16:creationId xmlns:a16="http://schemas.microsoft.com/office/drawing/2014/main" id="{D8A1C1B5-047A-8E7E-9CDE-3B4129C376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52498363"/>
              </p:ext>
            </p:extLst>
          </p:nvPr>
        </p:nvGraphicFramePr>
        <p:xfrm>
          <a:off x="3872039" y="4883544"/>
          <a:ext cx="4940186" cy="15569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155230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6D9C1D-5F5C-3031-7D83-4AE326F8C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700E0F77-E936-4985-B7B1-B9823486AC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618B37-7822-F6BF-B3EF-C2955C8E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Completion Time 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F0220145-9AA1-7146-8407-004C20E25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108" y="364142"/>
            <a:ext cx="6697824" cy="3867993"/>
          </a:xfrm>
          <a:prstGeom prst="rect">
            <a:avLst/>
          </a:prstGeom>
        </p:spPr>
      </p:pic>
      <p:sp>
        <p:nvSpPr>
          <p:cNvPr id="60" name="Rectangle 59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B29591-5089-6022-BC4E-6E26CC6DE102}"/>
              </a:ext>
            </a:extLst>
          </p:cNvPr>
          <p:cNvSpPr txBox="1"/>
          <p:nvPr/>
        </p:nvSpPr>
        <p:spPr>
          <a:xfrm>
            <a:off x="3872039" y="4883544"/>
            <a:ext cx="4940186" cy="1556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/>
              <a:t>Spell lesson input average  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8584290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0F8B52-4EC5-EBB7-C823-D8F9D6F2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5D45B116-CE6C-F839-D91E-5B5F0C5604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6D50A2-E79F-4829-2787-AA1D79C0A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9727" y="501651"/>
            <a:ext cx="2710751" cy="171625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500" dirty="0"/>
              <a:t>Accuracy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A5411CE-2462-853C-3E88-AFCE8EA6B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7554" y="466613"/>
            <a:ext cx="2252594" cy="2675212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D674F4-0553-0ECB-EF8D-31561A238B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5760" y="3610394"/>
            <a:ext cx="2249273" cy="2674644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90D3B96-86FE-09C7-AC8F-BA7FDD8F3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49861" y="2065135"/>
            <a:ext cx="2252594" cy="2675212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641FFD-CFD1-514B-C7A7-61A0990B3339}"/>
              </a:ext>
            </a:extLst>
          </p:cNvPr>
          <p:cNvSpPr txBox="1"/>
          <p:nvPr/>
        </p:nvSpPr>
        <p:spPr>
          <a:xfrm>
            <a:off x="5409727" y="2645922"/>
            <a:ext cx="2710751" cy="37104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Spell lesson input average  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7C82B22-11C3-F7BA-97A2-A8B492714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0F584F-A1DA-48C7-7262-3C825C509D59}"/>
              </a:ext>
            </a:extLst>
          </p:cNvPr>
          <p:cNvSpPr txBox="1"/>
          <p:nvPr/>
        </p:nvSpPr>
        <p:spPr>
          <a:xfrm>
            <a:off x="467547" y="835701"/>
            <a:ext cx="19207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Tutorial Input Accuracy </a:t>
            </a:r>
          </a:p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E2781F-28A5-67B1-9EC2-0D270DF70E55}"/>
              </a:ext>
            </a:extLst>
          </p:cNvPr>
          <p:cNvSpPr txBox="1"/>
          <p:nvPr/>
        </p:nvSpPr>
        <p:spPr>
          <a:xfrm>
            <a:off x="2926217" y="2329846"/>
            <a:ext cx="1899879" cy="6401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" algn="ctr" defTabSz="914400"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Glyph Lesson Accuracy</a:t>
            </a:r>
          </a:p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DD9691-D7B2-74F6-DF64-E5EEC3C7D5B3}"/>
              </a:ext>
            </a:extLst>
          </p:cNvPr>
          <p:cNvSpPr txBox="1"/>
          <p:nvPr/>
        </p:nvSpPr>
        <p:spPr>
          <a:xfrm>
            <a:off x="59203" y="3888704"/>
            <a:ext cx="2553244" cy="640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" algn="ctr" defTabSz="914400"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Spell Lesson Input Accuracy  </a:t>
            </a:r>
          </a:p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F05BF2-6550-19B6-730C-A7CC8FFBE3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18" y="1213492"/>
            <a:ext cx="2178425" cy="13716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1BB70B-64E3-772A-8CD0-E96222CA6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946" y="2716941"/>
            <a:ext cx="2178423" cy="1371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B5F4197-9299-DD6D-87E4-121928394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184" y="4286510"/>
            <a:ext cx="2178423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0504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9E930-3D50-5BC9-9865-0B771449D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66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4A32AB-0227-754E-2C5B-BB6233DAE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28" y="525982"/>
            <a:ext cx="4013540" cy="1200361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Accuracy vs. </a:t>
            </a:r>
            <a:r>
              <a:rPr lang="en-US" sz="2800" dirty="0"/>
              <a:t>Input Time</a:t>
            </a:r>
            <a:endParaRPr lang="en-US" sz="28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2399" y="1944913"/>
            <a:ext cx="301752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F4090D-75EC-9CD3-CD2D-5DE4EE88596D}"/>
              </a:ext>
            </a:extLst>
          </p:cNvPr>
          <p:cNvSpPr txBox="1"/>
          <p:nvPr/>
        </p:nvSpPr>
        <p:spPr>
          <a:xfrm>
            <a:off x="483799" y="2031101"/>
            <a:ext cx="3212238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Spell lesson input average  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61965" y="6072626"/>
            <a:ext cx="740664" cy="11559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36109" y="1694387"/>
            <a:ext cx="740664" cy="887511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72594" y="354959"/>
            <a:ext cx="4638730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40FBCF-8403-994E-BE08-0E2B11D021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0803" y="1866868"/>
            <a:ext cx="4221014" cy="2891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959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631FA4-8BD6-DC46-5AC3-D5E65BC3A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66">
            <a:extLst>
              <a:ext uri="{FF2B5EF4-FFF2-40B4-BE49-F238E27FC236}">
                <a16:creationId xmlns:a16="http://schemas.microsoft.com/office/drawing/2014/main" id="{700E0F77-E936-4985-B7B1-B9823486AC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B3846A-DA79-7154-6EB8-DDD074206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16" y="4883544"/>
            <a:ext cx="2907065" cy="155690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User Preference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E2B8E11-E3E5-C9AB-B5F6-84AA844EB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041" y="364142"/>
            <a:ext cx="5927958" cy="3867993"/>
          </a:xfrm>
          <a:prstGeom prst="rect">
            <a:avLst/>
          </a:prstGeom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D9F452-8761-8C83-DB8F-11E467051523}"/>
              </a:ext>
            </a:extLst>
          </p:cNvPr>
          <p:cNvSpPr txBox="1"/>
          <p:nvPr/>
        </p:nvSpPr>
        <p:spPr>
          <a:xfrm>
            <a:off x="3872039" y="4883544"/>
            <a:ext cx="4940186" cy="1556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/>
              <a:t>Spell lesson input average  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643281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D45250-0536-C65A-0127-7B296E7BB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6453AA7-6701-B9D3-0E12-9E40AAA0F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655E02-410C-222E-AA5F-D119FFA7B4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7425AB-1B66-94B1-3C05-F54BB47E0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433" y="381935"/>
            <a:ext cx="3294056" cy="5974414"/>
          </a:xfrm>
        </p:spPr>
        <p:txBody>
          <a:bodyPr anchor="ctr">
            <a:normAutofit/>
          </a:bodyPr>
          <a:lstStyle/>
          <a:p>
            <a:r>
              <a:rPr lang="en-US" sz="4900" dirty="0">
                <a:solidFill>
                  <a:srgbClr val="FFFFFF"/>
                </a:solidFill>
              </a:rPr>
              <a:t>Conclusions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87A8482-2BE5-DDAB-7B32-76D7B58532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7758B4A4-D43E-4112-F8BB-2F17F9550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9CC58411-932C-6376-4B92-DEDC586B1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2BBFF88B-02B9-F9FF-D839-4C90657BCF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4B1CE-988B-D345-A925-F410E36D18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2924" y="518400"/>
            <a:ext cx="3578706" cy="5837949"/>
          </a:xfrm>
        </p:spPr>
        <p:txBody>
          <a:bodyPr anchor="ctr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Learn to form spells with three-input glyphs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Understand Defense, Attack, Healing, Buff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Practice accuracy and speed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Complete class lesson with 8–16 spells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44BE9E5-36E3-7F78-0164-C71819A75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806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96A5A0-2096-26C9-2285-45B577F88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701C25-A752-205F-B454-23D9F15AB6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C9CA3F-E64A-4BE3-CE93-054C4DD97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5DAC9D-1049-78B3-891E-6E6153BED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433" y="381935"/>
            <a:ext cx="3294056" cy="5974414"/>
          </a:xfrm>
        </p:spPr>
        <p:txBody>
          <a:bodyPr anchor="ctr">
            <a:normAutofit/>
          </a:bodyPr>
          <a:lstStyle/>
          <a:p>
            <a:r>
              <a:rPr lang="en-US" sz="4900" dirty="0">
                <a:solidFill>
                  <a:srgbClr val="FFFFFF"/>
                </a:solidFill>
              </a:rPr>
              <a:t>What I learned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7164DA6-AB76-8B38-C159-4FBF7A75C9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4409A3F7-2F0A-D1CB-D065-8632BC249B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809F31CA-53FE-CC8E-CCDA-4DB968A10C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02DE94D9-DE64-CEB6-6E4E-8F2963C67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939DE-A8CF-ABCB-78DE-5B2AE76C6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2924" y="518400"/>
            <a:ext cx="3578706" cy="5837949"/>
          </a:xfrm>
        </p:spPr>
        <p:txBody>
          <a:bodyPr anchor="ctr">
            <a:norm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Learn to form spells with three-input glyphs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Understand Defense, Attack, Healing, Buff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Practice accuracy and speed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Complete class lesson with 8–16 spells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B303817-6230-80A6-8DB8-4098B64ECF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48778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296</TotalTime>
  <Words>487</Words>
  <Application>Microsoft Office PowerPoint</Application>
  <PresentationFormat>On-screen Show (4:3)</PresentationFormat>
  <Paragraphs>74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Rosy's Wizards 465</vt:lpstr>
      <vt:lpstr>About the Project</vt:lpstr>
      <vt:lpstr>Basic Spell System</vt:lpstr>
      <vt:lpstr>Systems Overview</vt:lpstr>
      <vt:lpstr>Control Types</vt:lpstr>
      <vt:lpstr>Controllers</vt:lpstr>
      <vt:lpstr>Gestures</vt:lpstr>
      <vt:lpstr>Combined Gestures</vt:lpstr>
      <vt:lpstr>Gameplay Flow</vt:lpstr>
      <vt:lpstr>Objectives &amp; Lessons</vt:lpstr>
      <vt:lpstr>Experiment</vt:lpstr>
      <vt:lpstr>Results</vt:lpstr>
      <vt:lpstr>Average Input Time </vt:lpstr>
      <vt:lpstr>Completion Time </vt:lpstr>
      <vt:lpstr>Accuracy</vt:lpstr>
      <vt:lpstr>Accuracy vs. Input Time</vt:lpstr>
      <vt:lpstr>User Preference</vt:lpstr>
      <vt:lpstr>Conclusions</vt:lpstr>
      <vt:lpstr>What I learned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Rose</dc:creator>
  <cp:keywords/>
  <dc:description>generated using python-pptx</dc:description>
  <cp:lastModifiedBy>Ordway,Rose</cp:lastModifiedBy>
  <cp:revision>4</cp:revision>
  <dcterms:created xsi:type="dcterms:W3CDTF">2013-01-27T09:14:16Z</dcterms:created>
  <dcterms:modified xsi:type="dcterms:W3CDTF">2025-05-06T05:34:36Z</dcterms:modified>
  <cp:category/>
</cp:coreProperties>
</file>