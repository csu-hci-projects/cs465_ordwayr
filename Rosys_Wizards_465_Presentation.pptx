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4" r:id="rId4"/>
    <p:sldId id="260" r:id="rId5"/>
    <p:sldId id="272" r:id="rId6"/>
    <p:sldId id="271" r:id="rId7"/>
    <p:sldId id="286" r:id="rId8"/>
    <p:sldId id="275" r:id="rId9"/>
    <p:sldId id="262" r:id="rId10"/>
    <p:sldId id="263" r:id="rId11"/>
    <p:sldId id="265" r:id="rId12"/>
    <p:sldId id="266" r:id="rId13"/>
    <p:sldId id="277" r:id="rId14"/>
    <p:sldId id="279" r:id="rId15"/>
    <p:sldId id="283" r:id="rId16"/>
    <p:sldId id="281" r:id="rId17"/>
    <p:sldId id="285" r:id="rId18"/>
    <p:sldId id="282" r:id="rId19"/>
    <p:sldId id="267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182" y="1598246"/>
            <a:ext cx="3470032" cy="5122985"/>
          </a:xfrm>
        </p:spPr>
        <p:txBody>
          <a:bodyPr anchor="t">
            <a:normAutofit/>
          </a:bodyPr>
          <a:lstStyle/>
          <a:p>
            <a:pPr algn="r"/>
            <a:r>
              <a:rPr lang="en-US" sz="7000">
                <a:solidFill>
                  <a:srgbClr val="FFFFFF"/>
                </a:solidFill>
              </a:rPr>
              <a:t>Rosy's Wizards 465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44745" y="1590840"/>
            <a:ext cx="4254132" cy="5095221"/>
          </a:xfrm>
        </p:spPr>
        <p:txBody>
          <a:bodyPr>
            <a:normAutofit/>
          </a:bodyPr>
          <a:lstStyle/>
          <a:p>
            <a:pPr algn="l"/>
            <a:r>
              <a:rPr lang="en-US" sz="3800">
                <a:solidFill>
                  <a:srgbClr val="FFFFFF"/>
                </a:solidFill>
              </a:rPr>
              <a:t>Rose Ordway</a:t>
            </a:r>
          </a:p>
          <a:p>
            <a:pPr algn="l"/>
            <a:r>
              <a:rPr lang="en-US" sz="3800">
                <a:solidFill>
                  <a:srgbClr val="FFFFFF"/>
                </a:solidFill>
              </a:rPr>
              <a:t>CS-465-001: Multimodal Interaction for 3D User Interfaces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85491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051" y="381935"/>
            <a:ext cx="3006438" cy="5974414"/>
          </a:xfrm>
        </p:spPr>
        <p:txBody>
          <a:bodyPr anchor="ctr">
            <a:normAutofit/>
          </a:bodyPr>
          <a:lstStyle/>
          <a:p>
            <a:r>
              <a:rPr lang="en-US" sz="7000">
                <a:solidFill>
                  <a:srgbClr val="FFFFFF"/>
                </a:solidFill>
              </a:rPr>
              <a:t>About the Project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The objective of this project is to create a VR spell-based casting system that utilizes gestures and controller inputs.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These control systems will be compared to determine which is the most effective and user-friendly.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chemeClr val="tx1">
                    <a:alpha val="80000"/>
                  </a:schemeClr>
                </a:solidFill>
              </a:rPr>
              <a:t>Meta Quest 3 hand-tracking technology</a:t>
            </a: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327D4-2155-3C60-C983-E8DB54EAC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9332" y="4928180"/>
            <a:ext cx="2640841" cy="1286354"/>
          </a:xfrm>
        </p:spPr>
        <p:txBody>
          <a:bodyPr>
            <a:normAutofit/>
          </a:bodyPr>
          <a:lstStyle/>
          <a:p>
            <a:pPr algn="r"/>
            <a:r>
              <a:rPr lang="en-US" sz="3300"/>
              <a:t>Basic Spell System</a:t>
            </a: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23293907-0F26-4752-BCD0-3AC2C5026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73798" y="635538"/>
            <a:ext cx="510306" cy="84974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08D95D6C-D86A-4549-A89A-3AB630264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2722" y="-1"/>
            <a:ext cx="819195" cy="1479367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3236AF34-77C9-4760-8838-235578CF42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20819" y="1481744"/>
            <a:ext cx="1168347" cy="1362456"/>
          </a:xfrm>
          <a:custGeom>
            <a:avLst/>
            <a:gdLst>
              <a:gd name="connsiteX0" fmla="*/ 0 w 1557796"/>
              <a:gd name="connsiteY0" fmla="*/ 0 h 1362456"/>
              <a:gd name="connsiteX1" fmla="*/ 1557796 w 1557796"/>
              <a:gd name="connsiteY1" fmla="*/ 0 h 1362456"/>
              <a:gd name="connsiteX2" fmla="*/ 1557796 w 1557796"/>
              <a:gd name="connsiteY2" fmla="*/ 1362456 h 1362456"/>
              <a:gd name="connsiteX3" fmla="*/ 1090945 w 1557796"/>
              <a:gd name="connsiteY3" fmla="*/ 1362456 h 136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57796" h="1362456">
                <a:moveTo>
                  <a:pt x="0" y="0"/>
                </a:moveTo>
                <a:lnTo>
                  <a:pt x="1557796" y="0"/>
                </a:lnTo>
                <a:lnTo>
                  <a:pt x="1557796" y="1362456"/>
                </a:lnTo>
                <a:lnTo>
                  <a:pt x="1090945" y="136245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0" name="Right Triangle 29">
            <a:extLst>
              <a:ext uri="{FF2B5EF4-FFF2-40B4-BE49-F238E27FC236}">
                <a16:creationId xmlns:a16="http://schemas.microsoft.com/office/drawing/2014/main" id="{51850F73-0C38-46D8-8082-A20B6044BE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7264" y="1480102"/>
            <a:ext cx="819195" cy="1364098"/>
          </a:xfrm>
          <a:prstGeom prst="rtTriangle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 descr="A white cross in a circle&#10;&#10;AI-generated content may be incorrect.">
            <a:extLst>
              <a:ext uri="{FF2B5EF4-FFF2-40B4-BE49-F238E27FC236}">
                <a16:creationId xmlns:a16="http://schemas.microsoft.com/office/drawing/2014/main" id="{C4081751-7C1F-01D6-6C60-6E773203DC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559" r="-10" b="2346"/>
          <a:stretch/>
        </p:blipFill>
        <p:spPr>
          <a:xfrm>
            <a:off x="2227380" y="1483803"/>
            <a:ext cx="1492946" cy="1374782"/>
          </a:xfrm>
          <a:prstGeom prst="rect">
            <a:avLst/>
          </a:prstGeom>
        </p:spPr>
      </p:pic>
      <p:pic>
        <p:nvPicPr>
          <p:cNvPr id="12" name="Picture 11" descr="A white arrows and stars on a black background&#10;&#10;AI-generated content may be incorrect.">
            <a:extLst>
              <a:ext uri="{FF2B5EF4-FFF2-40B4-BE49-F238E27FC236}">
                <a16:creationId xmlns:a16="http://schemas.microsoft.com/office/drawing/2014/main" id="{DB067C3D-4E3F-597A-5BA9-A06ABA8CEF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956" r="25579" b="-2"/>
          <a:stretch/>
        </p:blipFill>
        <p:spPr>
          <a:xfrm>
            <a:off x="472595" y="2837669"/>
            <a:ext cx="1758044" cy="3416073"/>
          </a:xfrm>
          <a:prstGeom prst="rect">
            <a:avLst/>
          </a:prstGeom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39141A8-FDFD-4ABE-A499-72C9669F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64157" y="1286480"/>
            <a:ext cx="1371600" cy="1767583"/>
          </a:xfrm>
          <a:custGeom>
            <a:avLst/>
            <a:gdLst>
              <a:gd name="connsiteX0" fmla="*/ 0 w 1371600"/>
              <a:gd name="connsiteY0" fmla="*/ 0 h 2356777"/>
              <a:gd name="connsiteX1" fmla="*/ 0 w 1371600"/>
              <a:gd name="connsiteY1" fmla="*/ 1216152 h 2356777"/>
              <a:gd name="connsiteX2" fmla="*/ 4495 w 1371600"/>
              <a:gd name="connsiteY2" fmla="*/ 1216152 h 2356777"/>
              <a:gd name="connsiteX3" fmla="*/ 4495 w 1371600"/>
              <a:gd name="connsiteY3" fmla="*/ 2356777 h 2356777"/>
              <a:gd name="connsiteX4" fmla="*/ 1367105 w 1371600"/>
              <a:gd name="connsiteY4" fmla="*/ 2356777 h 2356777"/>
              <a:gd name="connsiteX5" fmla="*/ 1367105 w 1371600"/>
              <a:gd name="connsiteY5" fmla="*/ 1216152 h 2356777"/>
              <a:gd name="connsiteX6" fmla="*/ 1371600 w 1371600"/>
              <a:gd name="connsiteY6" fmla="*/ 1216152 h 2356777"/>
              <a:gd name="connsiteX7" fmla="*/ 1367105 w 1371600"/>
              <a:gd name="connsiteY7" fmla="*/ 1212166 h 2356777"/>
              <a:gd name="connsiteX8" fmla="*/ 1367105 w 1371600"/>
              <a:gd name="connsiteY8" fmla="*/ 1210176 h 2356777"/>
              <a:gd name="connsiteX9" fmla="*/ 1364860 w 1371600"/>
              <a:gd name="connsiteY9" fmla="*/ 1210176 h 2356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71600" h="2356777">
                <a:moveTo>
                  <a:pt x="0" y="0"/>
                </a:moveTo>
                <a:lnTo>
                  <a:pt x="0" y="1216152"/>
                </a:lnTo>
                <a:lnTo>
                  <a:pt x="4495" y="1216152"/>
                </a:lnTo>
                <a:lnTo>
                  <a:pt x="4495" y="2356777"/>
                </a:lnTo>
                <a:lnTo>
                  <a:pt x="1367105" y="2356777"/>
                </a:lnTo>
                <a:lnTo>
                  <a:pt x="1367105" y="1216152"/>
                </a:lnTo>
                <a:lnTo>
                  <a:pt x="1371600" y="1216152"/>
                </a:lnTo>
                <a:lnTo>
                  <a:pt x="1367105" y="1212166"/>
                </a:lnTo>
                <a:lnTo>
                  <a:pt x="1367105" y="1210176"/>
                </a:lnTo>
                <a:lnTo>
                  <a:pt x="1364860" y="1210176"/>
                </a:lnTo>
                <a:close/>
              </a:path>
            </a:pathLst>
          </a:cu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A white symbol on a black background&#10;&#10;AI-generated content may be incorrect.">
            <a:extLst>
              <a:ext uri="{FF2B5EF4-FFF2-40B4-BE49-F238E27FC236}">
                <a16:creationId xmlns:a16="http://schemas.microsoft.com/office/drawing/2014/main" id="{35ABD8CC-9CA2-5ACB-7667-DF5E19E6FB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363" r="-12" b="1023"/>
          <a:stretch/>
        </p:blipFill>
        <p:spPr>
          <a:xfrm>
            <a:off x="472594" y="626994"/>
            <a:ext cx="912912" cy="863632"/>
          </a:xfrm>
          <a:prstGeom prst="rect">
            <a:avLst/>
          </a:prstGeom>
        </p:spPr>
      </p:pic>
      <p:pic>
        <p:nvPicPr>
          <p:cNvPr id="6" name="Picture 5" descr="A white shield on a black background&#10;&#10;AI-generated content may be incorrect.">
            <a:extLst>
              <a:ext uri="{FF2B5EF4-FFF2-40B4-BE49-F238E27FC236}">
                <a16:creationId xmlns:a16="http://schemas.microsoft.com/office/drawing/2014/main" id="{8B261325-3C1F-8760-DCE3-D8D29C6342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438" r="10303" b="-11"/>
          <a:stretch/>
        </p:blipFill>
        <p:spPr>
          <a:xfrm>
            <a:off x="3720327" y="10"/>
            <a:ext cx="1172395" cy="1479358"/>
          </a:xfrm>
          <a:prstGeom prst="rect">
            <a:avLst/>
          </a:prstGeom>
        </p:spPr>
      </p:pic>
      <p:sp>
        <p:nvSpPr>
          <p:cNvPr id="34" name="Right Triangle 33">
            <a:extLst>
              <a:ext uri="{FF2B5EF4-FFF2-40B4-BE49-F238E27FC236}">
                <a16:creationId xmlns:a16="http://schemas.microsoft.com/office/drawing/2014/main" id="{E916EF49-F958-4F28-A999-F8FA8D09A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09062" y="2437565"/>
            <a:ext cx="244200" cy="406635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Picture 8" descr="A white logo with crossed swords&#10;&#10;AI-generated content may be incorrect.">
            <a:extLst>
              <a:ext uri="{FF2B5EF4-FFF2-40B4-BE49-F238E27FC236}">
                <a16:creationId xmlns:a16="http://schemas.microsoft.com/office/drawing/2014/main" id="{FF6B4B28-8CFC-9F0A-8652-2C1B916BFE0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4341" r="-1" b="12770"/>
          <a:stretch/>
        </p:blipFill>
        <p:spPr>
          <a:xfrm>
            <a:off x="5650171" y="635538"/>
            <a:ext cx="3021233" cy="2202131"/>
          </a:xfrm>
          <a:prstGeom prst="rect">
            <a:avLst/>
          </a:prstGeom>
        </p:spPr>
      </p:pic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A7665D74-DFEA-412C-928C-F090E67084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1702799" y="3379588"/>
            <a:ext cx="1881096" cy="819195"/>
          </a:xfrm>
          <a:prstGeom prst="rtTriangle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 descr="A group of white chains&#10;&#10;AI-generated content may be incorrect.">
            <a:extLst>
              <a:ext uri="{FF2B5EF4-FFF2-40B4-BE49-F238E27FC236}">
                <a16:creationId xmlns:a16="http://schemas.microsoft.com/office/drawing/2014/main" id="{F8655016-842F-433A-9B78-B3859DEEA02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13226" b="14005"/>
          <a:stretch/>
        </p:blipFill>
        <p:spPr>
          <a:xfrm>
            <a:off x="3046575" y="2837670"/>
            <a:ext cx="2603598" cy="1894630"/>
          </a:xfrm>
          <a:prstGeom prst="rect">
            <a:avLst/>
          </a:prstGeom>
        </p:spPr>
      </p:pic>
      <p:sp>
        <p:nvSpPr>
          <p:cNvPr id="38" name="Right Triangle 37">
            <a:extLst>
              <a:ext uri="{FF2B5EF4-FFF2-40B4-BE49-F238E27FC236}">
                <a16:creationId xmlns:a16="http://schemas.microsoft.com/office/drawing/2014/main" id="{837A7BE2-DF08-4ECE-A520-13927DBF4C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900281" y="5087080"/>
            <a:ext cx="1495517" cy="837806"/>
          </a:xfrm>
          <a:prstGeom prst="rtTriangle">
            <a:avLst/>
          </a:prstGeom>
          <a:solidFill>
            <a:schemeClr val="accent3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08FA-7591-DDF8-807F-CF6A76A793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1472" y="3153048"/>
            <a:ext cx="2779933" cy="3061485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600"/>
              <a:t>Four basic glyphs: 🛡️ Defense, ⚔️ Attack, ❤️ Healing, ✨ Buff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600"/>
              <a:t>Two connector glyphs: ⛓️ Link, 🪢 Weave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600"/>
              <a:t>Create glyphs using three gestures or inputs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600"/>
              <a:t>Examples: A, B, A (controller), Peace, Rocker, Fist (gesture)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25438538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Systems Overview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table with black text and black text&#10;&#10;AI-generated content may be incorrect.">
            <a:extLst>
              <a:ext uri="{FF2B5EF4-FFF2-40B4-BE49-F238E27FC236}">
                <a16:creationId xmlns:a16="http://schemas.microsoft.com/office/drawing/2014/main" id="{CBD60655-DF7C-07BE-A932-F4601FFC0E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03" y="591163"/>
            <a:ext cx="7777234" cy="3413951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6337F-47F9-FD16-FAA8-5AB24432B4D6}"/>
              </a:ext>
            </a:extLst>
          </p:cNvPr>
          <p:cNvSpPr txBox="1"/>
          <p:nvPr/>
        </p:nvSpPr>
        <p:spPr>
          <a:xfrm>
            <a:off x="3872039" y="4883544"/>
            <a:ext cx="49401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>
                <a:solidFill>
                  <a:srgbClr val="FFFFFF"/>
                </a:solidFill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project uses multimodal interactions to cast spells</a:t>
            </a:r>
          </a:p>
          <a:p>
            <a:pPr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65000"/>
            <a:lumOff val="3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902CB9-C7DC-4673-B7D5-F22DCF0EC5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9CF454-6575-907F-81F1-65C5F23D41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443914"/>
            <a:ext cx="7886696" cy="1499852"/>
          </a:xfrm>
        </p:spPr>
        <p:txBody>
          <a:bodyPr anchor="b">
            <a:normAutofit/>
          </a:bodyPr>
          <a:lstStyle/>
          <a:p>
            <a:r>
              <a:rPr lang="en-US" sz="3500" dirty="0">
                <a:solidFill>
                  <a:schemeClr val="bg1"/>
                </a:solidFill>
              </a:rPr>
              <a:t>Control Types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FBD7EF-228C-716E-10D0-1233C2E15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933" y="703851"/>
            <a:ext cx="1502935" cy="3036235"/>
          </a:xfrm>
          <a:prstGeom prst="rect">
            <a:avLst/>
          </a:prstGeom>
        </p:spPr>
      </p:pic>
      <p:pic>
        <p:nvPicPr>
          <p:cNvPr id="11" name="Picture 10" descr="A screenshot of a phone&#10;&#10;AI-generated content may be incorrect.">
            <a:extLst>
              <a:ext uri="{FF2B5EF4-FFF2-40B4-BE49-F238E27FC236}">
                <a16:creationId xmlns:a16="http://schemas.microsoft.com/office/drawing/2014/main" id="{A680BFD9-B2DE-D1EF-F005-1678256EC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508" y="703851"/>
            <a:ext cx="1540888" cy="3036235"/>
          </a:xfrm>
          <a:prstGeom prst="rect">
            <a:avLst/>
          </a:prstGeom>
        </p:spPr>
      </p:pic>
      <p:pic>
        <p:nvPicPr>
          <p:cNvPr id="13" name="Picture 12" descr="A screenshot of a computer game&#10;&#10;AI-generated content may be incorrect.">
            <a:extLst>
              <a:ext uri="{FF2B5EF4-FFF2-40B4-BE49-F238E27FC236}">
                <a16:creationId xmlns:a16="http://schemas.microsoft.com/office/drawing/2014/main" id="{914C450E-89B8-8163-E2F7-1008046CB5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6087" y="703851"/>
            <a:ext cx="1540888" cy="3036235"/>
          </a:xfrm>
          <a:prstGeom prst="rect">
            <a:avLst/>
          </a:prstGeom>
        </p:spPr>
      </p:pic>
      <p:pic>
        <p:nvPicPr>
          <p:cNvPr id="9" name="Picture 8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4259F9D-5969-11C9-DFD1-986D6D9A0D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6665" y="703851"/>
            <a:ext cx="1540888" cy="3036235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7E9C05-0AD9-4E08-E966-6E720BDC90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38843" y="703851"/>
            <a:ext cx="1563660" cy="303623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15FD9-A264-CE49-4442-5A7C470F4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115481"/>
            <a:ext cx="7886696" cy="1493070"/>
          </a:xfrm>
        </p:spPr>
        <p:txBody>
          <a:bodyPr>
            <a:normAutofit/>
          </a:bodyPr>
          <a:lstStyle/>
          <a:p>
            <a:pPr algn="ctr"/>
            <a:r>
              <a:rPr lang="en-US" sz="1700" dirty="0">
                <a:solidFill>
                  <a:schemeClr val="bg1"/>
                </a:solidFill>
              </a:rPr>
              <a:t>Each control type has a different way of creating glyphs</a:t>
            </a:r>
          </a:p>
          <a:p>
            <a:pPr algn="ctr"/>
            <a:r>
              <a:rPr lang="en-US" sz="1700" dirty="0">
                <a:solidFill>
                  <a:schemeClr val="bg1"/>
                </a:solidFill>
              </a:rPr>
              <a:t>The control schemes were shown to the user throughout their playthrough</a:t>
            </a:r>
          </a:p>
        </p:txBody>
      </p:sp>
    </p:spTree>
    <p:extLst>
      <p:ext uri="{BB962C8B-B14F-4D97-AF65-F5344CB8AC3E}">
        <p14:creationId xmlns:p14="http://schemas.microsoft.com/office/powerpoint/2010/main" val="39397277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BE9B34-1B37-C675-33A8-DBB1E1E6F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US" sz="2800" kern="1200">
                <a:latin typeface="+mj-lt"/>
                <a:ea typeface="+mj-ea"/>
                <a:cs typeface="+mj-cs"/>
              </a:rPr>
              <a:t>Controllers</a:t>
            </a:r>
            <a:endParaRPr lang="en-US" sz="28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C68C0-9AB5-BC84-6DD2-731C3B273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03" y="1199604"/>
            <a:ext cx="7777234" cy="2197068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0E859-16FC-3A9D-A085-C89A8B1BD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2039" y="4883544"/>
            <a:ext cx="4940186" cy="1556907"/>
          </a:xfrm>
        </p:spPr>
        <p:txBody>
          <a:bodyPr anchor="ctr">
            <a:normAutofit/>
          </a:bodyPr>
          <a:lstStyle/>
          <a:p>
            <a:r>
              <a:rPr lang="en-US" sz="1600"/>
              <a:t>Controllers uses the button inputs to create glyphs</a:t>
            </a:r>
          </a:p>
          <a:p>
            <a:r>
              <a:rPr lang="en-US" sz="1600"/>
              <a:t>C1H uses either hand to press the correct button for a glyph</a:t>
            </a:r>
          </a:p>
          <a:p>
            <a:r>
              <a:rPr lang="en-US" sz="1600"/>
              <a:t>C2H uses both hands to press the correct button on both controller</a:t>
            </a:r>
          </a:p>
        </p:txBody>
      </p:sp>
    </p:spTree>
    <p:extLst>
      <p:ext uri="{BB962C8B-B14F-4D97-AF65-F5344CB8AC3E}">
        <p14:creationId xmlns:p14="http://schemas.microsoft.com/office/powerpoint/2010/main" val="2390058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A009B2-5E12-0C34-8FF6-4C4D04C6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7CBD15B8-0BC9-4CCF-A526-A1E45F6F7E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0464369-70FA-42AF-948F-80664CA7B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2146816"/>
          </a:xfrm>
          <a:prstGeom prst="rect">
            <a:avLst/>
          </a:prstGeom>
          <a:solidFill>
            <a:schemeClr val="bg1">
              <a:lumMod val="85000"/>
              <a:alpha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2A44-1DC3-274A-69E7-030F56375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587" y="349664"/>
            <a:ext cx="4384178" cy="1638377"/>
          </a:xfrm>
        </p:spPr>
        <p:txBody>
          <a:bodyPr anchor="b">
            <a:normAutofit/>
          </a:bodyPr>
          <a:lstStyle/>
          <a:p>
            <a:r>
              <a:rPr lang="en-US" sz="4200" kern="1200">
                <a:latin typeface="+mj-lt"/>
                <a:ea typeface="+mj-ea"/>
                <a:cs typeface="+mj-cs"/>
              </a:rPr>
              <a:t>Gestures</a:t>
            </a:r>
            <a:endParaRPr lang="en-US" sz="420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CC552A98-EF7D-4D42-AB69-066B786AB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6888" y="424614"/>
            <a:ext cx="3485526" cy="27790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E04522-2B78-E103-FAAF-D7D0173131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4" r="2747" b="-2"/>
          <a:stretch/>
        </p:blipFill>
        <p:spPr>
          <a:xfrm>
            <a:off x="400900" y="1196338"/>
            <a:ext cx="3176637" cy="1235633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A648176E-454C-437C-B0FC-9B82FCF3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45363" y="6150940"/>
            <a:ext cx="524256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6604B49-AD5C-4590-B051-06C8222E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4433100" y="1760836"/>
            <a:ext cx="524256" cy="88975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D6F001B-9B1B-4EC4-9A93-3773EBC951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6456" y="3428999"/>
            <a:ext cx="3485526" cy="2779083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2C64D-7CF1-0CDF-635C-F243832A7E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8" t="-1" r="139" b="-1"/>
          <a:stretch/>
        </p:blipFill>
        <p:spPr>
          <a:xfrm>
            <a:off x="400900" y="4349550"/>
            <a:ext cx="3176637" cy="93797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07473-C1D4-8B39-AB65-837B29E888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4696" y="2620641"/>
            <a:ext cx="4378313" cy="3023702"/>
          </a:xfrm>
        </p:spPr>
        <p:txBody>
          <a:bodyPr anchor="ctr">
            <a:normAutofit/>
          </a:bodyPr>
          <a:lstStyle/>
          <a:p>
            <a:r>
              <a:rPr lang="en-US" sz="1700" dirty="0"/>
              <a:t>G1H uses either hand to create a single gesture</a:t>
            </a:r>
          </a:p>
          <a:p>
            <a:r>
              <a:rPr lang="en-US" sz="1700" dirty="0"/>
              <a:t>G2H uses both hands to both doing the same gesture</a:t>
            </a:r>
          </a:p>
        </p:txBody>
      </p:sp>
    </p:spTree>
    <p:extLst>
      <p:ext uri="{BB962C8B-B14F-4D97-AF65-F5344CB8AC3E}">
        <p14:creationId xmlns:p14="http://schemas.microsoft.com/office/powerpoint/2010/main" val="37727483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82D7B5-0220-4DCD-AF4E-22B53E29A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928F64C6-FE22-4FC1-A763-DFCC514811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195918" y="4577975"/>
            <a:ext cx="5654511" cy="1899827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A7EB6C-D84F-CCA6-C3C4-FF5EC740F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601" y="4741948"/>
            <a:ext cx="5122140" cy="86203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Combined Gestures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63211-D0C4-B818-8CB1-ECEBE2E5F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52601" y="5839017"/>
            <a:ext cx="5122140" cy="40374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1200" kern="1200">
                <a:solidFill>
                  <a:srgbClr val="E7E6E6"/>
                </a:solidFill>
                <a:latin typeface="+mn-lt"/>
                <a:ea typeface="+mn-ea"/>
                <a:cs typeface="+mn-cs"/>
              </a:rPr>
              <a:t>G2H-C uses both hands to create one symbol therefore creating a glyph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D45C10-E788-5618-F039-0F04634E0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27" y="646690"/>
            <a:ext cx="2848177" cy="1360639"/>
          </a:xfrm>
          <a:prstGeom prst="rect">
            <a:avLst/>
          </a:prstGeom>
        </p:spPr>
      </p:pic>
      <p:pic>
        <p:nvPicPr>
          <p:cNvPr id="11" name="Picture 10" descr="A hands forming a triangle&#10;&#10;AI-generated content may be incorrect.">
            <a:extLst>
              <a:ext uri="{FF2B5EF4-FFF2-40B4-BE49-F238E27FC236}">
                <a16:creationId xmlns:a16="http://schemas.microsoft.com/office/drawing/2014/main" id="{7161F115-7032-B167-3C9A-D75AA9132C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60" y="2422097"/>
            <a:ext cx="2581799" cy="2013804"/>
          </a:xfrm>
          <a:prstGeom prst="rect">
            <a:avLst/>
          </a:prstGeom>
        </p:spPr>
      </p:pic>
      <p:pic>
        <p:nvPicPr>
          <p:cNvPr id="15" name="Picture 14" descr="A 3d model of a pair of hands&#10;&#10;AI-generated content may be incorrect.">
            <a:extLst>
              <a:ext uri="{FF2B5EF4-FFF2-40B4-BE49-F238E27FC236}">
                <a16:creationId xmlns:a16="http://schemas.microsoft.com/office/drawing/2014/main" id="{B6E00CCA-1680-15B1-4840-ADE3F79251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911" y="1267803"/>
            <a:ext cx="2845104" cy="2219181"/>
          </a:xfrm>
          <a:prstGeom prst="rect">
            <a:avLst/>
          </a:prstGeom>
        </p:spPr>
      </p:pic>
      <p:pic>
        <p:nvPicPr>
          <p:cNvPr id="13" name="Picture 12" descr="A computer generated image of a cross&#10;&#10;AI-generated content may be incorrect.">
            <a:extLst>
              <a:ext uri="{FF2B5EF4-FFF2-40B4-BE49-F238E27FC236}">
                <a16:creationId xmlns:a16="http://schemas.microsoft.com/office/drawing/2014/main" id="{737EC1F1-058B-34D4-1D72-E463ADC90B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4632" y="1266483"/>
            <a:ext cx="2848488" cy="2221820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C34627B-48E6-4F4D-B843-97717A86B4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39950" y="5694097"/>
            <a:ext cx="4114800" cy="0"/>
          </a:xfrm>
          <a:prstGeom prst="line">
            <a:avLst/>
          </a:prstGeom>
          <a:ln w="1587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-up of a triangle&#10;&#10;AI-generated content may be incorrect.">
            <a:extLst>
              <a:ext uri="{FF2B5EF4-FFF2-40B4-BE49-F238E27FC236}">
                <a16:creationId xmlns:a16="http://schemas.microsoft.com/office/drawing/2014/main" id="{9FB978E5-2553-30E3-6686-B314C0C522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445" y="4525715"/>
            <a:ext cx="2577629" cy="201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426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7FEAE179-C525-48F3-AD47-0E9E2B6F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anchor="ctr">
            <a:normAutofit/>
          </a:bodyPr>
          <a:lstStyle/>
          <a:p>
            <a:r>
              <a:rPr lang="en-US" sz="2800"/>
              <a:t>Gameplay Flow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 descr="A video game screen with a brick wall and a blackboard&#10;&#10;AI-generated content may be incorrect.">
            <a:extLst>
              <a:ext uri="{FF2B5EF4-FFF2-40B4-BE49-F238E27FC236}">
                <a16:creationId xmlns:a16="http://schemas.microsoft.com/office/drawing/2014/main" id="{A01C95B0-C594-9E44-F6AD-C24F641847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716"/>
          <a:stretch/>
        </p:blipFill>
        <p:spPr>
          <a:xfrm>
            <a:off x="719403" y="364142"/>
            <a:ext cx="7777234" cy="3867993"/>
          </a:xfrm>
          <a:prstGeom prst="rect">
            <a:avLst/>
          </a:prstGeom>
        </p:spPr>
      </p:pic>
      <p:sp>
        <p:nvSpPr>
          <p:cNvPr id="73" name="Rectangle 72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459" y="4905537"/>
            <a:ext cx="5271961" cy="1556907"/>
          </a:xfrm>
        </p:spPr>
        <p:txBody>
          <a:bodyPr anchor="ctr">
            <a:no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In-game chalkboard layout</a:t>
            </a:r>
          </a:p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Left (Teacher Board)</a:t>
            </a:r>
          </a:p>
          <a:p>
            <a:pPr lvl="1"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Showing the target glyph sequence and progress indicator.</a:t>
            </a:r>
          </a:p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Center (Control Set Board)</a:t>
            </a:r>
          </a:p>
          <a:p>
            <a:pPr lvl="1"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listing the current glyph–input assignments. </a:t>
            </a:r>
          </a:p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Right (Student Board) </a:t>
            </a:r>
          </a:p>
          <a:p>
            <a:pPr lvl="1"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Where the user’s inputs appear with immediate green/red feedback.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1299" y="321733"/>
            <a:ext cx="8660121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ight Triangle 2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356072" cy="4480726"/>
          </a:xfrm>
        </p:spPr>
        <p:txBody>
          <a:bodyPr>
            <a:normAutofit/>
          </a:bodyPr>
          <a:lstStyle/>
          <a:p>
            <a:pPr algn="r"/>
            <a:r>
              <a:rPr lang="en-US" sz="4000"/>
              <a:t>Objectives &amp; Lessons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54196" y="1338729"/>
            <a:ext cx="3596688" cy="41805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Participants learn which button or gesture produces each glyph</a:t>
            </a:r>
          </a:p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Glyph Lesson. Participants combine glyphs to form spells without feedback. Each trial samples 8 from 32 possible sequences of four glyph types (Attack, Defense, Buff, Heal) and two connectors (Link, Weave). </a:t>
            </a:r>
          </a:p>
          <a:p>
            <a:pPr>
              <a:lnSpc>
                <a:spcPct val="90000"/>
              </a:lnSpc>
              <a:defRPr sz="2000">
                <a:solidFill>
                  <a:srgbClr val="FFFFFF"/>
                </a:solidFill>
              </a:defRPr>
            </a:pPr>
            <a:r>
              <a:rPr lang="en-US" sz="1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Spell Lesson. Participants cast 16 spells with real-time visual feedback (spell effects and environmental changes) to simulate the final trial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3F70F2-BF2D-722F-43F3-8973B095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9C54E95E-EF2B-4F27-9DF4-29FCA95168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holding a white object&#10;&#10;AI-generated content may be incorrect.">
            <a:extLst>
              <a:ext uri="{FF2B5EF4-FFF2-40B4-BE49-F238E27FC236}">
                <a16:creationId xmlns:a16="http://schemas.microsoft.com/office/drawing/2014/main" id="{4C1B7CD0-3B32-E496-8CB0-843D99A379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13660"/>
          <a:stretch/>
        </p:blipFill>
        <p:spPr>
          <a:xfrm>
            <a:off x="2300289" y="692616"/>
            <a:ext cx="1787106" cy="2743202"/>
          </a:xfrm>
          <a:prstGeom prst="rect">
            <a:avLst/>
          </a:prstGeom>
        </p:spPr>
      </p:pic>
      <p:pic>
        <p:nvPicPr>
          <p:cNvPr id="5" name="Picture 4" descr="A person wearing a virtual reality headset&#10;&#10;AI-generated content may be incorrect.">
            <a:extLst>
              <a:ext uri="{FF2B5EF4-FFF2-40B4-BE49-F238E27FC236}">
                <a16:creationId xmlns:a16="http://schemas.microsoft.com/office/drawing/2014/main" id="{4E5E434C-2F89-A2E9-24E0-3CB4F6EB65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38" r="2667"/>
          <a:stretch/>
        </p:blipFill>
        <p:spPr>
          <a:xfrm>
            <a:off x="514348" y="692621"/>
            <a:ext cx="1810421" cy="274320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29518F4-CD00-487C-2CD8-080AD5407F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1" b="495"/>
          <a:stretch/>
        </p:blipFill>
        <p:spPr>
          <a:xfrm>
            <a:off x="514346" y="3429002"/>
            <a:ext cx="3571875" cy="274320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B8AF3F2D-63F1-4537-ADE7-A62A71AE9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F2A462-6F30-EBB0-9C65-9557BA709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8259" y="685796"/>
            <a:ext cx="3282159" cy="1605521"/>
          </a:xfrm>
        </p:spPr>
        <p:txBody>
          <a:bodyPr anchor="b">
            <a:normAutofit/>
          </a:bodyPr>
          <a:lstStyle/>
          <a:p>
            <a:r>
              <a:rPr lang="en-US" sz="2800">
                <a:solidFill>
                  <a:srgbClr val="595959"/>
                </a:solidFill>
              </a:rPr>
              <a:t>Experiment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4A255B-847C-CBAD-FEC1-5FF59F7F8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258" y="2578189"/>
            <a:ext cx="3282159" cy="3594010"/>
          </a:xfrm>
        </p:spPr>
        <p:txBody>
          <a:bodyPr anchor="t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15 participants 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Ages 16 to 49 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4 women and 11 men 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M = 21.46, 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Mdn = 18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>
                <a:solidFill>
                  <a:srgbClr val="595959"/>
                </a:solidFill>
              </a:rPr>
              <a:t>Participants had varying degrees of experience with VR and gaming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1700">
              <a:solidFill>
                <a:srgbClr val="5959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534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0A8D24-8F38-276C-F438-8C53D69B57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92E3F52-F4C3-FA7C-D1A6-66C1B8CE5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F15A1F-E1FA-13DD-0EA0-2F140A414B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4049B5-2DF0-675E-813E-F63412235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381935"/>
            <a:ext cx="3294056" cy="5974414"/>
          </a:xfrm>
        </p:spPr>
        <p:txBody>
          <a:bodyPr anchor="ctr">
            <a:normAutofit/>
          </a:bodyPr>
          <a:lstStyle/>
          <a:p>
            <a:r>
              <a:rPr lang="en-US" sz="4900" dirty="0">
                <a:solidFill>
                  <a:srgbClr val="FFFFFF"/>
                </a:solidFill>
              </a:rPr>
              <a:t>Results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A6FEF64-8713-25D9-6166-63600B622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4C44A3A2-3D4B-0E1F-BB94-0F5FCE8F62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F14D42CB-0B1D-D812-65E9-3B3E952FF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482834E6-C4AA-A7CB-9790-2D0FF5A336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97B9B-AF86-A9E9-B1FA-365E51528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Measurements were taken for three different factors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Time </a:t>
            </a:r>
          </a:p>
          <a:p>
            <a:pPr lvl="1"/>
            <a:r>
              <a:rPr lang="en-US" sz="1800" dirty="0"/>
              <a:t>Average input time </a:t>
            </a:r>
          </a:p>
          <a:p>
            <a:pPr lvl="1"/>
            <a:r>
              <a:rPr lang="en-US" sz="1800" dirty="0"/>
              <a:t>Lesson completion time</a:t>
            </a:r>
          </a:p>
          <a:p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Accuracy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800" dirty="0">
                <a:solidFill>
                  <a:schemeClr val="tx1">
                    <a:alpha val="80000"/>
                  </a:schemeClr>
                </a:solidFill>
              </a:rPr>
              <a:t>User preference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>
              <a:defRPr sz="2000">
                <a:solidFill>
                  <a:srgbClr val="FFFFFF"/>
                </a:solidFill>
              </a:defRPr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C7A6B1-6044-7681-3EC0-01F14F2F1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6778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700E0F77-E936-4985-B7B1-B9823486A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251E-34D1-5371-7CA7-41540AE35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Average Input Time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5C8260E-968F-44E8-A823-ABB4313119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5FFD2E-56CD-E980-BC97-E4784AA1EE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1621" r="-2417"/>
          <a:stretch/>
        </p:blipFill>
        <p:spPr>
          <a:xfrm>
            <a:off x="460456" y="-2666"/>
            <a:ext cx="8295128" cy="4601610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FE43805F-24A6-46A4-B19B-54F2834735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7A196E-8E95-E4E6-A039-242560CC399E}"/>
              </a:ext>
            </a:extLst>
          </p:cNvPr>
          <p:cNvSpPr txBox="1"/>
          <p:nvPr/>
        </p:nvSpPr>
        <p:spPr>
          <a:xfrm>
            <a:off x="3872039" y="4883544"/>
            <a:ext cx="49401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Tutorial Input Average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Glyph Lesson Input Average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Spell Lesson Input Average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Slowest: Gesture Two-Handed Combined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Less Present in the Tutorial Lesson 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All other control types are in the normal range of each other</a:t>
            </a:r>
          </a:p>
        </p:txBody>
      </p:sp>
    </p:spTree>
    <p:extLst>
      <p:ext uri="{BB962C8B-B14F-4D97-AF65-F5344CB8AC3E}">
        <p14:creationId xmlns:p14="http://schemas.microsoft.com/office/powerpoint/2010/main" val="19155230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0F8B52-4EC5-EBB7-C823-D8F9D6F2C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D45B116-CE6C-F839-D91E-5B5F0C5604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6D50A2-E79F-4829-2787-AA1D79C0A6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9727" y="1567453"/>
            <a:ext cx="2710751" cy="66367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4500" dirty="0"/>
              <a:t>Accuracy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5411CE-2462-853C-3E88-AFCE8EA6B0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7554" y="466613"/>
            <a:ext cx="2252594" cy="26752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BD674F4-0553-0ECB-EF8D-31561A238B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5760" y="3610394"/>
            <a:ext cx="2249273" cy="2674644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90D3B96-86FE-09C7-AC8F-BA7FDD8F39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49861" y="2065135"/>
            <a:ext cx="2252594" cy="2675212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641FFD-CFD1-514B-C7A7-61A0990B3339}"/>
              </a:ext>
            </a:extLst>
          </p:cNvPr>
          <p:cNvSpPr txBox="1"/>
          <p:nvPr/>
        </p:nvSpPr>
        <p:spPr>
          <a:xfrm>
            <a:off x="5249373" y="2421362"/>
            <a:ext cx="3279894" cy="510189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Gesture One-Hand was significantly less accurate in the tutorial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During the other lessons, it became more accurate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Over spell and glyph lessons, gestures were slightly more accurate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/>
              <a:t>Gesture Two-Hand Combined was accurate to learn, but hard to reproduce over the lessons.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7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C82B22-11C3-F7BA-97A2-A8B492714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40F584F-A1DA-48C7-7262-3C825C509D59}"/>
              </a:ext>
            </a:extLst>
          </p:cNvPr>
          <p:cNvSpPr txBox="1"/>
          <p:nvPr/>
        </p:nvSpPr>
        <p:spPr>
          <a:xfrm>
            <a:off x="467547" y="835701"/>
            <a:ext cx="19207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Tutorial Input Accuracy </a:t>
            </a:r>
          </a:p>
          <a:p>
            <a:pPr algn="ctr"/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2781F-28A5-67B1-9EC2-0D270DF70E55}"/>
              </a:ext>
            </a:extLst>
          </p:cNvPr>
          <p:cNvSpPr txBox="1"/>
          <p:nvPr/>
        </p:nvSpPr>
        <p:spPr>
          <a:xfrm>
            <a:off x="2926217" y="2329846"/>
            <a:ext cx="1899879" cy="6401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57150"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Glyph Lesson Accuracy</a:t>
            </a:r>
          </a:p>
          <a:p>
            <a:pPr algn="ctr"/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CDD9691-D7B2-74F6-DF64-E5EEC3C7D5B3}"/>
              </a:ext>
            </a:extLst>
          </p:cNvPr>
          <p:cNvSpPr txBox="1"/>
          <p:nvPr/>
        </p:nvSpPr>
        <p:spPr>
          <a:xfrm>
            <a:off x="59203" y="3888704"/>
            <a:ext cx="2553244" cy="6401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" algn="ctr" defTabSz="914400">
              <a:lnSpc>
                <a:spcPct val="90000"/>
              </a:lnSpc>
              <a:spcAft>
                <a:spcPts val="600"/>
              </a:spcAft>
            </a:pPr>
            <a:r>
              <a:rPr lang="en-US" sz="1400" dirty="0"/>
              <a:t>Spell Lesson Input Accuracy  </a:t>
            </a:r>
          </a:p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F05BF2-6550-19B6-730C-A7CC8FFBE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18" y="1213492"/>
            <a:ext cx="2178425" cy="1371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1BB70B-64E3-772A-8CD0-E96222CA6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6946" y="2716941"/>
            <a:ext cx="2178423" cy="137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5F4197-9299-DD6D-87E4-121928394D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184" y="4286510"/>
            <a:ext cx="2178423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0504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990F14-8CE6-2E1F-C05A-981C714CA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C6D6ECC8-F4A2-1E33-08D3-DDECABA26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5708D-BAA8-69CB-9ADA-0C17E1A66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Completion Time 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E9810BB-D0AA-0E15-623D-3F790CD538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6966EBED-68AA-33C1-B406-47827B64F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82209CD-93EC-1FCD-32D7-138CEF26D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964" r="414" b="64"/>
          <a:stretch/>
        </p:blipFill>
        <p:spPr>
          <a:xfrm>
            <a:off x="494746" y="-182035"/>
            <a:ext cx="8260838" cy="469265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03EFF3A9-3F0B-6DF7-7738-8B2CD99BB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BF048E-A551-645B-31F8-1BC14D3DBC63}"/>
              </a:ext>
            </a:extLst>
          </p:cNvPr>
          <p:cNvSpPr txBox="1"/>
          <p:nvPr/>
        </p:nvSpPr>
        <p:spPr>
          <a:xfrm>
            <a:off x="3872039" y="4883544"/>
            <a:ext cx="49401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Glyph Lesson (Left)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Spell Lesson (Right)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Slowest: Gesture Two-Handed Combined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All other control types are in the normal range of each other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Lines up with the data found in Average Input Time</a:t>
            </a:r>
          </a:p>
        </p:txBody>
      </p:sp>
    </p:spTree>
    <p:extLst>
      <p:ext uri="{BB962C8B-B14F-4D97-AF65-F5344CB8AC3E}">
        <p14:creationId xmlns:p14="http://schemas.microsoft.com/office/powerpoint/2010/main" val="36885620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49E930-3D50-5BC9-9865-0B771449D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A32AB-0227-754E-2C5B-BB6233DA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050" y="1128094"/>
            <a:ext cx="2575635" cy="1415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Accuracy vs. </a:t>
            </a:r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 Time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82342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0FBCF-8403-994E-BE08-0E2B11D02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" y="1496208"/>
            <a:ext cx="5652858" cy="3872206"/>
          </a:xfrm>
          <a:prstGeom prst="rect">
            <a:avLst/>
          </a:prstGeom>
        </p:spPr>
      </p:pic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149542" y="871146"/>
            <a:ext cx="552704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AF4090D-75EC-9CD3-CD2D-5DE4EE88596D}"/>
              </a:ext>
            </a:extLst>
          </p:cNvPr>
          <p:cNvSpPr txBox="1"/>
          <p:nvPr/>
        </p:nvSpPr>
        <p:spPr>
          <a:xfrm>
            <a:off x="5915051" y="2009710"/>
            <a:ext cx="3216887" cy="35990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Controller One-Hand (Blue)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Inaccurate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Very Fast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Controller Two-Hand (Red)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Slightly Accurate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Moderate Input Speed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Gesture One-Hand (Purple)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Very Inaccurate 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Fast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Gesture Two-Hand (Orange)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Very Accurate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Fast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Gesture Combined (Green)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Accurate</a:t>
            </a:r>
          </a:p>
          <a:p>
            <a:pPr marL="742950" lvl="1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Very Slow</a:t>
            </a:r>
          </a:p>
          <a:p>
            <a:pPr marL="34290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Gesture Two-Hand was the most efficient, looking at accuracy vs time</a:t>
            </a:r>
          </a:p>
          <a:p>
            <a:pPr marL="285750" indent="-2286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8909591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BE5DBE-B3B2-901E-7ABE-040E9D659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8A8A7075-6D6B-D34E-12AF-1EA90F271C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8CB71-EEC0-608D-2C96-5D360884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8416" y="4883544"/>
            <a:ext cx="2907065" cy="15569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2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Preference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764BCA5-147B-1ACD-7EC5-7FE9DE401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86584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1B0D7CB-E03F-B51A-91EF-C493A9EBFD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8416" y="0"/>
            <a:ext cx="8423809" cy="458818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B8A6C4D-029F-DD92-8F68-60F860B095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496" b="6496"/>
          <a:stretch/>
        </p:blipFill>
        <p:spPr>
          <a:xfrm>
            <a:off x="494746" y="-182035"/>
            <a:ext cx="8260838" cy="4692653"/>
          </a:xfrm>
          <a:prstGeom prst="rect">
            <a:avLst/>
          </a:prstGeom>
        </p:spPr>
      </p:pic>
      <p:sp>
        <p:nvSpPr>
          <p:cNvPr id="65" name="Rectangle 64">
            <a:extLst>
              <a:ext uri="{FF2B5EF4-FFF2-40B4-BE49-F238E27FC236}">
                <a16:creationId xmlns:a16="http://schemas.microsoft.com/office/drawing/2014/main" id="{5AFBF50A-FBB1-DD90-670E-E3A5B0FAC5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817950" y="5666847"/>
            <a:ext cx="1463040" cy="3428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8567B8-8C5B-ABC2-3C13-D7DDA7115F6F}"/>
              </a:ext>
            </a:extLst>
          </p:cNvPr>
          <p:cNvSpPr txBox="1"/>
          <p:nvPr/>
        </p:nvSpPr>
        <p:spPr>
          <a:xfrm>
            <a:off x="3872039" y="4883544"/>
            <a:ext cx="4940186" cy="15569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340614" indent="-285750" algn="l" rtl="0" eaLnBrk="1" latinLnBrk="0" hangingPunct="1">
              <a:lnSpc>
                <a:spcPct val="90000"/>
              </a:lnSpc>
              <a:spcAft>
                <a:spcPts val="600"/>
              </a:spcAft>
              <a:buClrTx/>
              <a:buSzPts val="17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Participants did not like </a:t>
            </a: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G2H-C</a:t>
            </a:r>
          </a:p>
          <a:p>
            <a:pPr marL="340614" indent="-285750" algn="l" rtl="0" eaLnBrk="1" latinLnBrk="0" hangingPunct="1">
              <a:lnSpc>
                <a:spcPct val="90000"/>
              </a:lnSpc>
              <a:spcAft>
                <a:spcPts val="600"/>
              </a:spcAft>
              <a:buClrTx/>
              <a:buSzPts val="1700"/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Participants preferred gestures to controllers</a:t>
            </a:r>
            <a:endParaRPr lang="en-US" sz="1400" dirty="0">
              <a:effectLst/>
            </a:endParaRPr>
          </a:p>
          <a:p>
            <a:pPr marL="340614" indent="-285750" algn="l" rtl="0" eaLnBrk="1" latinLnBrk="0" hangingPunct="1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kern="1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+mn-ea"/>
                <a:cs typeface="+mn-cs"/>
              </a:rPr>
              <a:t>Participants preferred one hand over two</a:t>
            </a:r>
            <a:endParaRPr lang="en-US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60391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D45250-0536-C65A-0127-7B296E7BB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6453AA7-6701-B9D3-0E12-9E40AAA0F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655E02-410C-222E-AA5F-D119FFA7B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425AB-1B66-94B1-3C05-F54BB47E0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381935"/>
            <a:ext cx="3294056" cy="5974414"/>
          </a:xfrm>
        </p:spPr>
        <p:txBody>
          <a:bodyPr anchor="ctr">
            <a:normAutofit/>
          </a:bodyPr>
          <a:lstStyle/>
          <a:p>
            <a:r>
              <a:rPr lang="en-US" sz="4900" dirty="0">
                <a:solidFill>
                  <a:srgbClr val="FFFFFF"/>
                </a:solidFill>
              </a:rPr>
              <a:t>Conclusions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7A8482-2BE5-DDAB-7B32-76D7B585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7758B4A4-D43E-4112-F8BB-2F17F9550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9CC58411-932C-6376-4B92-DEDC586B1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2BBFF88B-02B9-F9FF-D839-4C90657BC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4B1CE-988B-D345-A925-F410E36D1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Most Efficient Control Type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</a:rPr>
              <a:t>Gesture two-handed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Participant Preferred Control Type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en-US" sz="1300" dirty="0">
                <a:solidFill>
                  <a:schemeClr val="tx1">
                    <a:alpha val="80000"/>
                  </a:schemeClr>
                </a:solidFill>
              </a:rPr>
              <a:t>Gesture one-handed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r>
              <a:rPr lang="en-US" sz="1400" dirty="0">
                <a:solidFill>
                  <a:schemeClr val="tx1">
                    <a:alpha val="80000"/>
                  </a:schemeClr>
                </a:solidFill>
              </a:rPr>
              <a:t>Less accurate than its two-handed counterpart</a:t>
            </a:r>
            <a:r>
              <a:rPr lang="en-US" sz="1300" dirty="0">
                <a:solidFill>
                  <a:schemeClr val="tx1">
                    <a:alpha val="80000"/>
                  </a:schemeClr>
                </a:solidFill>
              </a:rPr>
              <a:t> 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G2H-C was almost universally disliked</a:t>
            </a:r>
          </a:p>
          <a:p>
            <a:pPr lvl="1">
              <a:defRPr sz="2000">
                <a:solidFill>
                  <a:srgbClr val="FFFFFF"/>
                </a:solidFill>
              </a:defRPr>
            </a:pPr>
            <a:endParaRPr lang="en-US" sz="1300" dirty="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44BE9E5-36E3-7F78-0164-C71819A75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068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96A5A0-2096-26C9-2285-45B577F88A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701C25-A752-205F-B454-23D9F15AB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7C9CA3F-E64A-4BE3-CE93-054C4DD971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334933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5DAC9D-1049-78B3-891E-6E6153BED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433" y="381935"/>
            <a:ext cx="3294056" cy="5974414"/>
          </a:xfrm>
        </p:spPr>
        <p:txBody>
          <a:bodyPr anchor="ctr">
            <a:normAutofit/>
          </a:bodyPr>
          <a:lstStyle/>
          <a:p>
            <a:r>
              <a:rPr lang="en-US" sz="4900" dirty="0">
                <a:solidFill>
                  <a:srgbClr val="FFFFFF"/>
                </a:solidFill>
              </a:rPr>
              <a:t>What I learned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7164DA6-AB76-8B38-C159-4FBF7A75C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420" y="554152"/>
            <a:ext cx="430632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4409A3F7-2F0A-D1CB-D065-8632BC249B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809F31CA-53FE-CC8E-CCDA-4DB968A10C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02DE94D9-DE64-CEB6-6E4E-8F2963C67A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939DE-A8CF-ABCB-78DE-5B2AE76C6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0"/>
            <a:ext cx="3578706" cy="5837949"/>
          </a:xfrm>
        </p:spPr>
        <p:txBody>
          <a:bodyPr anchor="ctr">
            <a:norm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Learn to form spells with three-input glyphs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Understand Defense, Attack, Healing, Buff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Practice accuracy and speed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Complete class lesson with 8–16 spells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B303817-6230-80A6-8DB8-4098B64EC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487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357</TotalTime>
  <Words>643</Words>
  <Application>Microsoft Office PowerPoint</Application>
  <PresentationFormat>On-screen Show (4:3)</PresentationFormat>
  <Paragraphs>106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Rosy's Wizards 465</vt:lpstr>
      <vt:lpstr>About the Project</vt:lpstr>
      <vt:lpstr>Basic Spell System</vt:lpstr>
      <vt:lpstr>Systems Overview</vt:lpstr>
      <vt:lpstr>Control Types</vt:lpstr>
      <vt:lpstr>Controllers</vt:lpstr>
      <vt:lpstr>Gestures</vt:lpstr>
      <vt:lpstr>Combined Gestures</vt:lpstr>
      <vt:lpstr>Gameplay Flow</vt:lpstr>
      <vt:lpstr>Objectives &amp; Lessons</vt:lpstr>
      <vt:lpstr>Experiment</vt:lpstr>
      <vt:lpstr>Results</vt:lpstr>
      <vt:lpstr>Average Input Time </vt:lpstr>
      <vt:lpstr>Accuracy</vt:lpstr>
      <vt:lpstr>Completion Time </vt:lpstr>
      <vt:lpstr>Accuracy vs. Input Time</vt:lpstr>
      <vt:lpstr>User Preference</vt:lpstr>
      <vt:lpstr>Conclusions</vt:lpstr>
      <vt:lpstr>What I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Rose</dc:creator>
  <cp:keywords/>
  <dc:description>generated using python-pptx</dc:description>
  <cp:lastModifiedBy>Ordway,Rose</cp:lastModifiedBy>
  <cp:revision>5</cp:revision>
  <dcterms:created xsi:type="dcterms:W3CDTF">2013-01-27T09:14:16Z</dcterms:created>
  <dcterms:modified xsi:type="dcterms:W3CDTF">2025-05-06T15:13:09Z</dcterms:modified>
  <cp:category/>
</cp:coreProperties>
</file>