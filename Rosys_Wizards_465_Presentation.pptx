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88" r:id="rId4"/>
    <p:sldId id="290" r:id="rId5"/>
    <p:sldId id="291" r:id="rId6"/>
    <p:sldId id="292" r:id="rId7"/>
    <p:sldId id="274" r:id="rId8"/>
    <p:sldId id="260" r:id="rId9"/>
    <p:sldId id="272" r:id="rId10"/>
    <p:sldId id="271" r:id="rId11"/>
    <p:sldId id="286" r:id="rId12"/>
    <p:sldId id="275" r:id="rId13"/>
    <p:sldId id="262" r:id="rId14"/>
    <p:sldId id="263" r:id="rId15"/>
    <p:sldId id="265" r:id="rId16"/>
    <p:sldId id="266" r:id="rId17"/>
    <p:sldId id="277" r:id="rId18"/>
    <p:sldId id="279" r:id="rId19"/>
    <p:sldId id="283" r:id="rId20"/>
    <p:sldId id="281" r:id="rId21"/>
    <p:sldId id="285" r:id="rId22"/>
    <p:sldId id="282" r:id="rId23"/>
    <p:sldId id="267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169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7C5840A-56D3-4766-BB91-4900CB663119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00C84C3-1A52-4683-BA55-3722CCE3D4B7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Classroom Design</a:t>
          </a:r>
        </a:p>
      </dgm:t>
    </dgm:pt>
    <dgm:pt modelId="{07DD1A9A-9E96-4A16-9C67-2637C745C711}" type="parTrans" cxnId="{3CC76EDC-901E-4535-B64C-7D6A7646FADB}">
      <dgm:prSet/>
      <dgm:spPr/>
      <dgm:t>
        <a:bodyPr/>
        <a:lstStyle/>
        <a:p>
          <a:endParaRPr lang="en-US"/>
        </a:p>
      </dgm:t>
    </dgm:pt>
    <dgm:pt modelId="{D6AD8C81-9531-41B8-B5BD-6298D781EB69}" type="sibTrans" cxnId="{3CC76EDC-901E-4535-B64C-7D6A7646FADB}">
      <dgm:prSet/>
      <dgm:spPr/>
      <dgm:t>
        <a:bodyPr/>
        <a:lstStyle/>
        <a:p>
          <a:endParaRPr lang="en-US"/>
        </a:p>
      </dgm:t>
    </dgm:pt>
    <dgm:pt modelId="{12696C0A-55BD-4003-BB50-96826511114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Spellcasting Effects</a:t>
          </a:r>
        </a:p>
      </dgm:t>
    </dgm:pt>
    <dgm:pt modelId="{410B3A73-4E25-44A8-BF40-0CE313713618}" type="parTrans" cxnId="{0BD683C3-F40D-4CAB-B6D1-DD133A96E4CF}">
      <dgm:prSet/>
      <dgm:spPr/>
      <dgm:t>
        <a:bodyPr/>
        <a:lstStyle/>
        <a:p>
          <a:endParaRPr lang="en-US"/>
        </a:p>
      </dgm:t>
    </dgm:pt>
    <dgm:pt modelId="{C3CFA17B-C235-433E-B2DE-88799BD87C0C}" type="sibTrans" cxnId="{0BD683C3-F40D-4CAB-B6D1-DD133A96E4CF}">
      <dgm:prSet/>
      <dgm:spPr/>
      <dgm:t>
        <a:bodyPr/>
        <a:lstStyle/>
        <a:p>
          <a:endParaRPr lang="en-US"/>
        </a:p>
      </dgm:t>
    </dgm:pt>
    <dgm:pt modelId="{DA1CF85C-2511-4D2B-891C-D3C4303C97A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Dialogue and Narrative</a:t>
          </a:r>
        </a:p>
      </dgm:t>
    </dgm:pt>
    <dgm:pt modelId="{8710FA28-B738-42C3-830B-2494C324CF9E}" type="parTrans" cxnId="{6E6FFB4B-DC6B-45B8-9723-E2E8257943B6}">
      <dgm:prSet/>
      <dgm:spPr/>
      <dgm:t>
        <a:bodyPr/>
        <a:lstStyle/>
        <a:p>
          <a:endParaRPr lang="en-US"/>
        </a:p>
      </dgm:t>
    </dgm:pt>
    <dgm:pt modelId="{1DA96287-DC34-4A24-A09F-D5C4F75F5A60}" type="sibTrans" cxnId="{6E6FFB4B-DC6B-45B8-9723-E2E8257943B6}">
      <dgm:prSet/>
      <dgm:spPr/>
      <dgm:t>
        <a:bodyPr/>
        <a:lstStyle/>
        <a:p>
          <a:endParaRPr lang="en-US"/>
        </a:p>
      </dgm:t>
    </dgm:pt>
    <dgm:pt modelId="{0112D0D3-5ACD-4BFB-A5DE-5EF8F36C6F8C}" type="pres">
      <dgm:prSet presAssocID="{C7C5840A-56D3-4766-BB91-4900CB663119}" presName="vert0" presStyleCnt="0">
        <dgm:presLayoutVars>
          <dgm:dir/>
          <dgm:animOne val="branch"/>
          <dgm:animLvl val="lvl"/>
        </dgm:presLayoutVars>
      </dgm:prSet>
      <dgm:spPr/>
    </dgm:pt>
    <dgm:pt modelId="{2D4B4156-1641-4394-97D0-172B98E5BCE5}" type="pres">
      <dgm:prSet presAssocID="{D00C84C3-1A52-4683-BA55-3722CCE3D4B7}" presName="thickLine" presStyleLbl="alignNode1" presStyleIdx="0" presStyleCnt="3"/>
      <dgm:spPr/>
    </dgm:pt>
    <dgm:pt modelId="{D5A90C9D-B36F-4775-BB68-B3B8BFBE9E5F}" type="pres">
      <dgm:prSet presAssocID="{D00C84C3-1A52-4683-BA55-3722CCE3D4B7}" presName="horz1" presStyleCnt="0"/>
      <dgm:spPr/>
    </dgm:pt>
    <dgm:pt modelId="{A992ACAD-BD1D-4753-A6F5-C278964138AA}" type="pres">
      <dgm:prSet presAssocID="{D00C84C3-1A52-4683-BA55-3722CCE3D4B7}" presName="tx1" presStyleLbl="revTx" presStyleIdx="0" presStyleCnt="3"/>
      <dgm:spPr/>
    </dgm:pt>
    <dgm:pt modelId="{F7B90FBD-1CDE-410E-AA60-2FDFEDB4A418}" type="pres">
      <dgm:prSet presAssocID="{D00C84C3-1A52-4683-BA55-3722CCE3D4B7}" presName="vert1" presStyleCnt="0"/>
      <dgm:spPr/>
    </dgm:pt>
    <dgm:pt modelId="{D8D26C16-9919-40F2-B6AC-A802ACC7F725}" type="pres">
      <dgm:prSet presAssocID="{12696C0A-55BD-4003-BB50-96826511114B}" presName="thickLine" presStyleLbl="alignNode1" presStyleIdx="1" presStyleCnt="3"/>
      <dgm:spPr/>
    </dgm:pt>
    <dgm:pt modelId="{BE1708D5-A5A7-4126-BBB8-D592329814A0}" type="pres">
      <dgm:prSet presAssocID="{12696C0A-55BD-4003-BB50-96826511114B}" presName="horz1" presStyleCnt="0"/>
      <dgm:spPr/>
    </dgm:pt>
    <dgm:pt modelId="{9149A1EC-0C12-4EB7-82DA-CB4DF68B45D1}" type="pres">
      <dgm:prSet presAssocID="{12696C0A-55BD-4003-BB50-96826511114B}" presName="tx1" presStyleLbl="revTx" presStyleIdx="1" presStyleCnt="3"/>
      <dgm:spPr/>
    </dgm:pt>
    <dgm:pt modelId="{038472D7-0BDD-4444-8109-F117A606C794}" type="pres">
      <dgm:prSet presAssocID="{12696C0A-55BD-4003-BB50-96826511114B}" presName="vert1" presStyleCnt="0"/>
      <dgm:spPr/>
    </dgm:pt>
    <dgm:pt modelId="{87413B06-799C-456C-9D85-18C524F9593F}" type="pres">
      <dgm:prSet presAssocID="{DA1CF85C-2511-4D2B-891C-D3C4303C97A6}" presName="thickLine" presStyleLbl="alignNode1" presStyleIdx="2" presStyleCnt="3"/>
      <dgm:spPr/>
    </dgm:pt>
    <dgm:pt modelId="{CCA3250B-6A3F-4C2B-9CDA-E1BD497AD3AA}" type="pres">
      <dgm:prSet presAssocID="{DA1CF85C-2511-4D2B-891C-D3C4303C97A6}" presName="horz1" presStyleCnt="0"/>
      <dgm:spPr/>
    </dgm:pt>
    <dgm:pt modelId="{74E7915C-E299-47C2-ABA2-21049B901F1A}" type="pres">
      <dgm:prSet presAssocID="{DA1CF85C-2511-4D2B-891C-D3C4303C97A6}" presName="tx1" presStyleLbl="revTx" presStyleIdx="2" presStyleCnt="3"/>
      <dgm:spPr/>
    </dgm:pt>
    <dgm:pt modelId="{D29B1872-CA32-414E-98E1-6CA2AF1518FD}" type="pres">
      <dgm:prSet presAssocID="{DA1CF85C-2511-4D2B-891C-D3C4303C97A6}" presName="vert1" presStyleCnt="0"/>
      <dgm:spPr/>
    </dgm:pt>
  </dgm:ptLst>
  <dgm:cxnLst>
    <dgm:cxn modelId="{6E6FFB4B-DC6B-45B8-9723-E2E8257943B6}" srcId="{C7C5840A-56D3-4766-BB91-4900CB663119}" destId="{DA1CF85C-2511-4D2B-891C-D3C4303C97A6}" srcOrd="2" destOrd="0" parTransId="{8710FA28-B738-42C3-830B-2494C324CF9E}" sibTransId="{1DA96287-DC34-4A24-A09F-D5C4F75F5A60}"/>
    <dgm:cxn modelId="{CEDCCC98-8DDD-4D48-B1DC-37EA46E3EA8C}" type="presOf" srcId="{C7C5840A-56D3-4766-BB91-4900CB663119}" destId="{0112D0D3-5ACD-4BFB-A5DE-5EF8F36C6F8C}" srcOrd="0" destOrd="0" presId="urn:microsoft.com/office/officeart/2008/layout/LinedList"/>
    <dgm:cxn modelId="{07C7FCB3-CE2E-47D8-80AF-3F714798F21B}" type="presOf" srcId="{DA1CF85C-2511-4D2B-891C-D3C4303C97A6}" destId="{74E7915C-E299-47C2-ABA2-21049B901F1A}" srcOrd="0" destOrd="0" presId="urn:microsoft.com/office/officeart/2008/layout/LinedList"/>
    <dgm:cxn modelId="{0BD683C3-F40D-4CAB-B6D1-DD133A96E4CF}" srcId="{C7C5840A-56D3-4766-BB91-4900CB663119}" destId="{12696C0A-55BD-4003-BB50-96826511114B}" srcOrd="1" destOrd="0" parTransId="{410B3A73-4E25-44A8-BF40-0CE313713618}" sibTransId="{C3CFA17B-C235-433E-B2DE-88799BD87C0C}"/>
    <dgm:cxn modelId="{3D9E71D8-96C6-4865-ABB7-AA9709ABF5FD}" type="presOf" srcId="{12696C0A-55BD-4003-BB50-96826511114B}" destId="{9149A1EC-0C12-4EB7-82DA-CB4DF68B45D1}" srcOrd="0" destOrd="0" presId="urn:microsoft.com/office/officeart/2008/layout/LinedList"/>
    <dgm:cxn modelId="{3CC76EDC-901E-4535-B64C-7D6A7646FADB}" srcId="{C7C5840A-56D3-4766-BB91-4900CB663119}" destId="{D00C84C3-1A52-4683-BA55-3722CCE3D4B7}" srcOrd="0" destOrd="0" parTransId="{07DD1A9A-9E96-4A16-9C67-2637C745C711}" sibTransId="{D6AD8C81-9531-41B8-B5BD-6298D781EB69}"/>
    <dgm:cxn modelId="{6A3D77E0-933E-4491-BCE8-272CE35E1A6C}" type="presOf" srcId="{D00C84C3-1A52-4683-BA55-3722CCE3D4B7}" destId="{A992ACAD-BD1D-4753-A6F5-C278964138AA}" srcOrd="0" destOrd="0" presId="urn:microsoft.com/office/officeart/2008/layout/LinedList"/>
    <dgm:cxn modelId="{7A9FC982-49A8-4537-93A1-FF75476BF758}" type="presParOf" srcId="{0112D0D3-5ACD-4BFB-A5DE-5EF8F36C6F8C}" destId="{2D4B4156-1641-4394-97D0-172B98E5BCE5}" srcOrd="0" destOrd="0" presId="urn:microsoft.com/office/officeart/2008/layout/LinedList"/>
    <dgm:cxn modelId="{8B5A6C60-6B7D-479C-9432-0C5EB77B7D2D}" type="presParOf" srcId="{0112D0D3-5ACD-4BFB-A5DE-5EF8F36C6F8C}" destId="{D5A90C9D-B36F-4775-BB68-B3B8BFBE9E5F}" srcOrd="1" destOrd="0" presId="urn:microsoft.com/office/officeart/2008/layout/LinedList"/>
    <dgm:cxn modelId="{9B1F8CF2-7C38-426A-BBCD-418E6B88A1AE}" type="presParOf" srcId="{D5A90C9D-B36F-4775-BB68-B3B8BFBE9E5F}" destId="{A992ACAD-BD1D-4753-A6F5-C278964138AA}" srcOrd="0" destOrd="0" presId="urn:microsoft.com/office/officeart/2008/layout/LinedList"/>
    <dgm:cxn modelId="{D1505E00-4344-41C4-92CC-4FBC34B61AAE}" type="presParOf" srcId="{D5A90C9D-B36F-4775-BB68-B3B8BFBE9E5F}" destId="{F7B90FBD-1CDE-410E-AA60-2FDFEDB4A418}" srcOrd="1" destOrd="0" presId="urn:microsoft.com/office/officeart/2008/layout/LinedList"/>
    <dgm:cxn modelId="{D4B4F796-23D3-4311-A194-3885FAF75AB1}" type="presParOf" srcId="{0112D0D3-5ACD-4BFB-A5DE-5EF8F36C6F8C}" destId="{D8D26C16-9919-40F2-B6AC-A802ACC7F725}" srcOrd="2" destOrd="0" presId="urn:microsoft.com/office/officeart/2008/layout/LinedList"/>
    <dgm:cxn modelId="{14BF0ACE-BD58-4553-8095-1FD3AE4A9B7C}" type="presParOf" srcId="{0112D0D3-5ACD-4BFB-A5DE-5EF8F36C6F8C}" destId="{BE1708D5-A5A7-4126-BBB8-D592329814A0}" srcOrd="3" destOrd="0" presId="urn:microsoft.com/office/officeart/2008/layout/LinedList"/>
    <dgm:cxn modelId="{F2D93DB5-3804-4302-98B1-8FEF089380C9}" type="presParOf" srcId="{BE1708D5-A5A7-4126-BBB8-D592329814A0}" destId="{9149A1EC-0C12-4EB7-82DA-CB4DF68B45D1}" srcOrd="0" destOrd="0" presId="urn:microsoft.com/office/officeart/2008/layout/LinedList"/>
    <dgm:cxn modelId="{D4286865-C243-45C8-869A-2D8C798D38B2}" type="presParOf" srcId="{BE1708D5-A5A7-4126-BBB8-D592329814A0}" destId="{038472D7-0BDD-4444-8109-F117A606C794}" srcOrd="1" destOrd="0" presId="urn:microsoft.com/office/officeart/2008/layout/LinedList"/>
    <dgm:cxn modelId="{B5A4EBDA-66A4-4980-9077-6D3FE5B17F6B}" type="presParOf" srcId="{0112D0D3-5ACD-4BFB-A5DE-5EF8F36C6F8C}" destId="{87413B06-799C-456C-9D85-18C524F9593F}" srcOrd="4" destOrd="0" presId="urn:microsoft.com/office/officeart/2008/layout/LinedList"/>
    <dgm:cxn modelId="{EA9E3065-7EFD-493E-9805-8EE58E97E271}" type="presParOf" srcId="{0112D0D3-5ACD-4BFB-A5DE-5EF8F36C6F8C}" destId="{CCA3250B-6A3F-4C2B-9CDA-E1BD497AD3AA}" srcOrd="5" destOrd="0" presId="urn:microsoft.com/office/officeart/2008/layout/LinedList"/>
    <dgm:cxn modelId="{DE673848-1ED5-4C04-ADBA-D26704E7B78E}" type="presParOf" srcId="{CCA3250B-6A3F-4C2B-9CDA-E1BD497AD3AA}" destId="{74E7915C-E299-47C2-ABA2-21049B901F1A}" srcOrd="0" destOrd="0" presId="urn:microsoft.com/office/officeart/2008/layout/LinedList"/>
    <dgm:cxn modelId="{F62EC48C-01EE-47A7-9D9B-C6E1115F41B2}" type="presParOf" srcId="{CCA3250B-6A3F-4C2B-9CDA-E1BD497AD3AA}" destId="{D29B1872-CA32-414E-98E1-6CA2AF1518F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4B4156-1641-4394-97D0-172B98E5BCE5}">
      <dsp:nvSpPr>
        <dsp:cNvPr id="0" name=""/>
        <dsp:cNvSpPr/>
      </dsp:nvSpPr>
      <dsp:spPr>
        <a:xfrm>
          <a:off x="0" y="2041"/>
          <a:ext cx="359668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92ACAD-BD1D-4753-A6F5-C278964138AA}">
      <dsp:nvSpPr>
        <dsp:cNvPr id="0" name=""/>
        <dsp:cNvSpPr/>
      </dsp:nvSpPr>
      <dsp:spPr>
        <a:xfrm>
          <a:off x="0" y="2041"/>
          <a:ext cx="3596688" cy="13921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kern="1200" dirty="0"/>
            <a:t>Classroom Design</a:t>
          </a:r>
        </a:p>
      </dsp:txBody>
      <dsp:txXfrm>
        <a:off x="0" y="2041"/>
        <a:ext cx="3596688" cy="1392153"/>
      </dsp:txXfrm>
    </dsp:sp>
    <dsp:sp modelId="{D8D26C16-9919-40F2-B6AC-A802ACC7F725}">
      <dsp:nvSpPr>
        <dsp:cNvPr id="0" name=""/>
        <dsp:cNvSpPr/>
      </dsp:nvSpPr>
      <dsp:spPr>
        <a:xfrm>
          <a:off x="0" y="1394194"/>
          <a:ext cx="359668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49A1EC-0C12-4EB7-82DA-CB4DF68B45D1}">
      <dsp:nvSpPr>
        <dsp:cNvPr id="0" name=""/>
        <dsp:cNvSpPr/>
      </dsp:nvSpPr>
      <dsp:spPr>
        <a:xfrm>
          <a:off x="0" y="1394194"/>
          <a:ext cx="3596688" cy="13921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kern="1200" dirty="0"/>
            <a:t>Spellcasting Effects</a:t>
          </a:r>
        </a:p>
      </dsp:txBody>
      <dsp:txXfrm>
        <a:off x="0" y="1394194"/>
        <a:ext cx="3596688" cy="1392153"/>
      </dsp:txXfrm>
    </dsp:sp>
    <dsp:sp modelId="{87413B06-799C-456C-9D85-18C524F9593F}">
      <dsp:nvSpPr>
        <dsp:cNvPr id="0" name=""/>
        <dsp:cNvSpPr/>
      </dsp:nvSpPr>
      <dsp:spPr>
        <a:xfrm>
          <a:off x="0" y="2786347"/>
          <a:ext cx="359668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E7915C-E299-47C2-ABA2-21049B901F1A}">
      <dsp:nvSpPr>
        <dsp:cNvPr id="0" name=""/>
        <dsp:cNvSpPr/>
      </dsp:nvSpPr>
      <dsp:spPr>
        <a:xfrm>
          <a:off x="0" y="2786347"/>
          <a:ext cx="3596688" cy="13921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kern="1200" dirty="0"/>
            <a:t>Dialogue and Narrative</a:t>
          </a:r>
        </a:p>
      </dsp:txBody>
      <dsp:txXfrm>
        <a:off x="0" y="2786347"/>
        <a:ext cx="3596688" cy="139215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E7AA7E8-8006-4E1F-A566-FCF37EE6F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182" y="1598246"/>
            <a:ext cx="3470032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7000">
                <a:solidFill>
                  <a:srgbClr val="FFFFFF"/>
                </a:solidFill>
              </a:rPr>
              <a:t>Rosy's Wizards 465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44745" y="1590840"/>
            <a:ext cx="4254132" cy="5095221"/>
          </a:xfrm>
        </p:spPr>
        <p:txBody>
          <a:bodyPr>
            <a:normAutofit/>
          </a:bodyPr>
          <a:lstStyle/>
          <a:p>
            <a:pPr algn="l"/>
            <a:r>
              <a:rPr lang="en-US" sz="3800">
                <a:solidFill>
                  <a:srgbClr val="FFFFFF"/>
                </a:solidFill>
              </a:rPr>
              <a:t>Rose Ordway</a:t>
            </a:r>
          </a:p>
          <a:p>
            <a:pPr algn="l"/>
            <a:r>
              <a:rPr lang="en-US" sz="3800">
                <a:solidFill>
                  <a:srgbClr val="FFFFFF"/>
                </a:solidFill>
              </a:rPr>
              <a:t>CS-465-001: Multimodal Interaction for 3D User Interfaces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85491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1051" y="381935"/>
            <a:ext cx="3006438" cy="5974414"/>
          </a:xfrm>
        </p:spPr>
        <p:txBody>
          <a:bodyPr anchor="ctr">
            <a:normAutofit/>
          </a:bodyPr>
          <a:lstStyle/>
          <a:p>
            <a:r>
              <a:rPr lang="en-US" sz="7000">
                <a:solidFill>
                  <a:srgbClr val="FFFFFF"/>
                </a:solidFill>
              </a:rPr>
              <a:t>About the Project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22924" y="518400"/>
            <a:ext cx="3578706" cy="5837949"/>
          </a:xfrm>
        </p:spPr>
        <p:txBody>
          <a:bodyPr anchor="ctr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The objective of this project is to create a VR spell-based casting system that utilizes gestures and controller inputs.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These control systems will be compared to determine which is the most effective and user-friendly.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Meta Quest 3 hand-tracking technology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Creating a engaging environment was high priority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084A68-6FF5-87FD-77F0-C3C137D23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D8631AEF-242C-CC0C-8A66-FDD4CB0614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0EC62761-309F-F4B9-90F8-DB00E1D23A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1299" y="321733"/>
            <a:ext cx="8660121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Right Triangle 25">
            <a:extLst>
              <a:ext uri="{FF2B5EF4-FFF2-40B4-BE49-F238E27FC236}">
                <a16:creationId xmlns:a16="http://schemas.microsoft.com/office/drawing/2014/main" id="{C5831F2A-DCF1-BC91-680A-617B0AAD9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AA7427C-04AF-7079-7D21-7AE11A72A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9774F3-C145-26DF-51F1-BD301000D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175" y="1188637"/>
            <a:ext cx="2356072" cy="4480726"/>
          </a:xfrm>
        </p:spPr>
        <p:txBody>
          <a:bodyPr>
            <a:normAutofit/>
          </a:bodyPr>
          <a:lstStyle/>
          <a:p>
            <a:pPr algn="r"/>
            <a:r>
              <a:rPr lang="en-US" sz="4000" dirty="0"/>
              <a:t>Building The Prototype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F01B086-53A1-F17A-188B-298BD06D3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Content Placeholder 2">
            <a:extLst>
              <a:ext uri="{FF2B5EF4-FFF2-40B4-BE49-F238E27FC236}">
                <a16:creationId xmlns:a16="http://schemas.microsoft.com/office/drawing/2014/main" id="{270FAFE0-084D-D99F-278F-D69DB485DC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0732693"/>
              </p:ext>
            </p:extLst>
          </p:nvPr>
        </p:nvGraphicFramePr>
        <p:xfrm>
          <a:off x="3854196" y="1338729"/>
          <a:ext cx="3596688" cy="41805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14959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80DE5B-9233-9A31-753F-E7BCDE9D6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8F90786E-B72D-4C32-BDCE-A170B0078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E46F2E7-848F-4A6C-A098-4764FDEA77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 descr="A video game of a room with tables and chairs&#10;&#10;AI-generated content may be incorrect.">
            <a:extLst>
              <a:ext uri="{FF2B5EF4-FFF2-40B4-BE49-F238E27FC236}">
                <a16:creationId xmlns:a16="http://schemas.microsoft.com/office/drawing/2014/main" id="{F0C63BD8-0CE2-CC31-12CA-543272E8798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l="7596" r="8738" b="1"/>
          <a:stretch/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C92FAD-42F5-2674-8819-BC9C54F58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1671570"/>
            <a:ext cx="3866446" cy="40720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>
                <a:solidFill>
                  <a:srgbClr val="FFFFFF"/>
                </a:solidFill>
              </a:rPr>
              <a:t>Classroom Design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41EBC5-2370-42CC-815C-32DE27A91311}"/>
              </a:ext>
            </a:extLst>
          </p:cNvPr>
          <p:cNvSpPr txBox="1"/>
          <p:nvPr/>
        </p:nvSpPr>
        <p:spPr>
          <a:xfrm>
            <a:off x="4639489" y="1671566"/>
            <a:ext cx="3878146" cy="40720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rgbClr val="FFFFFF"/>
                </a:solidFill>
              </a:rPr>
              <a:t>Used assets from </a:t>
            </a:r>
            <a:r>
              <a:rPr lang="en-US" sz="1700" i="0" dirty="0">
                <a:solidFill>
                  <a:srgbClr val="FFFFFF"/>
                </a:solidFill>
                <a:effectLst/>
              </a:rPr>
              <a:t>Dungeon Set - Wizard Laboratory by </a:t>
            </a:r>
            <a:r>
              <a:rPr lang="en-US" sz="1700" i="0" dirty="0" err="1">
                <a:solidFill>
                  <a:srgbClr val="FFFFFF"/>
                </a:solidFill>
                <a:effectLst/>
              </a:rPr>
              <a:t>DuoDraconis</a:t>
            </a:r>
            <a:endParaRPr lang="en-US" sz="1700" i="0" dirty="0">
              <a:solidFill>
                <a:srgbClr val="FFFFFF"/>
              </a:solidFill>
              <a:effectLst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rgbClr val="FFFFFF"/>
                </a:solidFill>
              </a:rPr>
              <a:t>Iterated over a lot of ideas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rgbClr val="FFFFFF"/>
                </a:solidFill>
              </a:rPr>
              <a:t>Terrain?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rgbClr val="FFFFFF"/>
                </a:solidFill>
              </a:rPr>
              <a:t>Town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8008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418C04-DFBF-5981-A620-F6A9F9972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6E61B563-A4B2-5783-81AF-A2A053D74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5352229"/>
            <a:ext cx="9144000" cy="1519356"/>
            <a:chOff x="0" y="-29768"/>
            <a:chExt cx="12202174" cy="1519356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40633BBC-8C60-7DC4-F0CC-CE32251096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CCC98078-F2A2-725C-ED61-320B63B695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289101" y="-1429602"/>
              <a:ext cx="1507122" cy="4319024"/>
            </a:xfrm>
            <a:prstGeom prst="rect">
              <a:avLst/>
            </a:prstGeom>
            <a:gradFill>
              <a:gsLst>
                <a:gs pos="5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1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21CD4C03-24F0-57A9-530E-8F2ABABDC5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880884" y="-2910652"/>
              <a:ext cx="1519356" cy="7281123"/>
            </a:xfrm>
            <a:prstGeom prst="rect">
              <a:avLst/>
            </a:prstGeom>
            <a:gradFill>
              <a:gsLst>
                <a:gs pos="2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75000"/>
                    <a:alpha val="70000"/>
                  </a:schemeClr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9D03462-2B39-6C00-61BD-9ED8092E9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609902"/>
            <a:ext cx="5193019" cy="9139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>
                <a:solidFill>
                  <a:srgbClr val="FFFFFF"/>
                </a:solidFill>
              </a:rPr>
              <a:t>Creating Magical Effects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B220E3-CD4D-61A2-A70B-B2C3DC0BC1D1}"/>
              </a:ext>
            </a:extLst>
          </p:cNvPr>
          <p:cNvSpPr txBox="1"/>
          <p:nvPr/>
        </p:nvSpPr>
        <p:spPr>
          <a:xfrm>
            <a:off x="5397493" y="5600706"/>
            <a:ext cx="3236568" cy="934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r" defTabSz="9144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</a:rPr>
              <a:t>Used assets from </a:t>
            </a:r>
            <a:r>
              <a:rPr lang="en-US" sz="1600" i="0" dirty="0">
                <a:solidFill>
                  <a:srgbClr val="FFFFFF"/>
                </a:solidFill>
                <a:effectLst/>
              </a:rPr>
              <a:t>Magic Effects FREE</a:t>
            </a:r>
          </a:p>
          <a:p>
            <a:pPr algn="r" defTabSz="9144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rPr lang="en-US" sz="1600" i="0" dirty="0">
                <a:solidFill>
                  <a:srgbClr val="FFFFFF"/>
                </a:solidFill>
                <a:effectLst/>
              </a:rPr>
              <a:t> – </a:t>
            </a:r>
            <a:r>
              <a:rPr lang="en-US" sz="1600" i="0" dirty="0" err="1">
                <a:solidFill>
                  <a:srgbClr val="FFFFFF"/>
                </a:solidFill>
                <a:effectLst/>
              </a:rPr>
              <a:t>Hovl</a:t>
            </a:r>
            <a:r>
              <a:rPr lang="en-US" sz="1600" i="0" dirty="0">
                <a:solidFill>
                  <a:srgbClr val="FFFFFF"/>
                </a:solidFill>
                <a:effectLst/>
              </a:rPr>
              <a:t> Studio </a:t>
            </a:r>
            <a:endParaRPr lang="en-US" sz="1600" dirty="0">
              <a:solidFill>
                <a:srgbClr val="FFFFFF"/>
              </a:solidFill>
            </a:endParaRPr>
          </a:p>
        </p:txBody>
      </p:sp>
      <p:pic>
        <p:nvPicPr>
          <p:cNvPr id="4" name="Picture 3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B27F2E58-BA87-6288-A87C-D78922ADB4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348"/>
          <a:stretch/>
        </p:blipFill>
        <p:spPr>
          <a:xfrm>
            <a:off x="20" y="10"/>
            <a:ext cx="9143979" cy="5352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831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C4B29-310F-7EEF-AF32-072E7E1FD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412" y="-1"/>
            <a:ext cx="3909949" cy="6883030"/>
            <a:chOff x="-19217" y="-1"/>
            <a:chExt cx="5213267" cy="688303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CBD8434-36DB-C79E-05EC-BAD38E68F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613" y="739835"/>
            <a:ext cx="2776935" cy="16162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Dialogue and Narrative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AEE25C-CC95-70A9-E23B-64C883155550}"/>
              </a:ext>
            </a:extLst>
          </p:cNvPr>
          <p:cNvSpPr txBox="1"/>
          <p:nvPr/>
        </p:nvSpPr>
        <p:spPr>
          <a:xfrm>
            <a:off x="566613" y="2459116"/>
            <a:ext cx="2776934" cy="3524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FFFFFF"/>
                </a:solidFill>
              </a:rPr>
              <a:t>Wrote the narrative myself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en-US" sz="1700" i="0">
                <a:solidFill>
                  <a:srgbClr val="FFFFFF"/>
                </a:solidFill>
                <a:effectLst/>
              </a:rPr>
              <a:t>Voice was done using AI voice generation in elevenlabs.io </a:t>
            </a:r>
            <a:endParaRPr lang="en-US" sz="170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055F6C-3B52-6BFC-3AE9-C8C9F0425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3870" y="787114"/>
            <a:ext cx="2615466" cy="5283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94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327D4-2155-3C60-C983-E8DB54EAC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9332" y="4928180"/>
            <a:ext cx="2640841" cy="1286354"/>
          </a:xfrm>
        </p:spPr>
        <p:txBody>
          <a:bodyPr>
            <a:normAutofit/>
          </a:bodyPr>
          <a:lstStyle/>
          <a:p>
            <a:pPr algn="r"/>
            <a:r>
              <a:rPr lang="en-US" sz="3300"/>
              <a:t>Basic Spell System</a:t>
            </a:r>
          </a:p>
        </p:txBody>
      </p:sp>
      <p:sp>
        <p:nvSpPr>
          <p:cNvPr id="24" name="Right Triangle 23">
            <a:extLst>
              <a:ext uri="{FF2B5EF4-FFF2-40B4-BE49-F238E27FC236}">
                <a16:creationId xmlns:a16="http://schemas.microsoft.com/office/drawing/2014/main" id="{23293907-0F26-4752-BCD0-3AC2C5026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3798" y="635538"/>
            <a:ext cx="510306" cy="849747"/>
          </a:xfrm>
          <a:prstGeom prst="rt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Right Triangle 25">
            <a:extLst>
              <a:ext uri="{FF2B5EF4-FFF2-40B4-BE49-F238E27FC236}">
                <a16:creationId xmlns:a16="http://schemas.microsoft.com/office/drawing/2014/main" id="{08D95D6C-D86A-4549-A89A-3AB6302645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2722" y="-1"/>
            <a:ext cx="819195" cy="1479367"/>
          </a:xfrm>
          <a:prstGeom prst="rt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236AF34-77C9-4760-8838-235578CF4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20819" y="1481744"/>
            <a:ext cx="1168347" cy="1362456"/>
          </a:xfrm>
          <a:custGeom>
            <a:avLst/>
            <a:gdLst>
              <a:gd name="connsiteX0" fmla="*/ 0 w 1557796"/>
              <a:gd name="connsiteY0" fmla="*/ 0 h 1362456"/>
              <a:gd name="connsiteX1" fmla="*/ 1557796 w 1557796"/>
              <a:gd name="connsiteY1" fmla="*/ 0 h 1362456"/>
              <a:gd name="connsiteX2" fmla="*/ 1557796 w 1557796"/>
              <a:gd name="connsiteY2" fmla="*/ 1362456 h 1362456"/>
              <a:gd name="connsiteX3" fmla="*/ 1090945 w 1557796"/>
              <a:gd name="connsiteY3" fmla="*/ 1362456 h 136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57796" h="1362456">
                <a:moveTo>
                  <a:pt x="0" y="0"/>
                </a:moveTo>
                <a:lnTo>
                  <a:pt x="1557796" y="0"/>
                </a:lnTo>
                <a:lnTo>
                  <a:pt x="1557796" y="1362456"/>
                </a:lnTo>
                <a:lnTo>
                  <a:pt x="1090945" y="1362456"/>
                </a:lnTo>
                <a:close/>
              </a:path>
            </a:pathLst>
          </a:cu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0" name="Right Triangle 29">
            <a:extLst>
              <a:ext uri="{FF2B5EF4-FFF2-40B4-BE49-F238E27FC236}">
                <a16:creationId xmlns:a16="http://schemas.microsoft.com/office/drawing/2014/main" id="{51850F73-0C38-46D8-8082-A20B6044BE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7264" y="1480102"/>
            <a:ext cx="819195" cy="1364098"/>
          </a:xfrm>
          <a:prstGeom prst="rt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 descr="A white cross in a circle&#10;&#10;AI-generated content may be incorrect.">
            <a:extLst>
              <a:ext uri="{FF2B5EF4-FFF2-40B4-BE49-F238E27FC236}">
                <a16:creationId xmlns:a16="http://schemas.microsoft.com/office/drawing/2014/main" id="{C4081751-7C1F-01D6-6C60-6E773203DC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59" r="-10" b="2346"/>
          <a:stretch/>
        </p:blipFill>
        <p:spPr>
          <a:xfrm>
            <a:off x="2227380" y="1483803"/>
            <a:ext cx="1492946" cy="1374782"/>
          </a:xfrm>
          <a:prstGeom prst="rect">
            <a:avLst/>
          </a:prstGeom>
        </p:spPr>
      </p:pic>
      <p:pic>
        <p:nvPicPr>
          <p:cNvPr id="12" name="Picture 11" descr="A white arrows and stars on a black background&#10;&#10;AI-generated content may be incorrect.">
            <a:extLst>
              <a:ext uri="{FF2B5EF4-FFF2-40B4-BE49-F238E27FC236}">
                <a16:creationId xmlns:a16="http://schemas.microsoft.com/office/drawing/2014/main" id="{DB067C3D-4E3F-597A-5BA9-A06ABA8CEF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956" r="25579" b="-2"/>
          <a:stretch/>
        </p:blipFill>
        <p:spPr>
          <a:xfrm>
            <a:off x="472595" y="2837669"/>
            <a:ext cx="1758044" cy="3416073"/>
          </a:xfrm>
          <a:prstGeom prst="rect">
            <a:avLst/>
          </a:prstGeom>
        </p:spPr>
      </p:pic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39141A8-FDFD-4ABE-A499-72C9669F4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64157" y="1286480"/>
            <a:ext cx="1371600" cy="1767583"/>
          </a:xfrm>
          <a:custGeom>
            <a:avLst/>
            <a:gdLst>
              <a:gd name="connsiteX0" fmla="*/ 0 w 1371600"/>
              <a:gd name="connsiteY0" fmla="*/ 0 h 2356777"/>
              <a:gd name="connsiteX1" fmla="*/ 0 w 1371600"/>
              <a:gd name="connsiteY1" fmla="*/ 1216152 h 2356777"/>
              <a:gd name="connsiteX2" fmla="*/ 4495 w 1371600"/>
              <a:gd name="connsiteY2" fmla="*/ 1216152 h 2356777"/>
              <a:gd name="connsiteX3" fmla="*/ 4495 w 1371600"/>
              <a:gd name="connsiteY3" fmla="*/ 2356777 h 2356777"/>
              <a:gd name="connsiteX4" fmla="*/ 1367105 w 1371600"/>
              <a:gd name="connsiteY4" fmla="*/ 2356777 h 2356777"/>
              <a:gd name="connsiteX5" fmla="*/ 1367105 w 1371600"/>
              <a:gd name="connsiteY5" fmla="*/ 1216152 h 2356777"/>
              <a:gd name="connsiteX6" fmla="*/ 1371600 w 1371600"/>
              <a:gd name="connsiteY6" fmla="*/ 1216152 h 2356777"/>
              <a:gd name="connsiteX7" fmla="*/ 1367105 w 1371600"/>
              <a:gd name="connsiteY7" fmla="*/ 1212166 h 2356777"/>
              <a:gd name="connsiteX8" fmla="*/ 1367105 w 1371600"/>
              <a:gd name="connsiteY8" fmla="*/ 1210176 h 2356777"/>
              <a:gd name="connsiteX9" fmla="*/ 1364860 w 1371600"/>
              <a:gd name="connsiteY9" fmla="*/ 1210176 h 2356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371600" h="2356777">
                <a:moveTo>
                  <a:pt x="0" y="0"/>
                </a:moveTo>
                <a:lnTo>
                  <a:pt x="0" y="1216152"/>
                </a:lnTo>
                <a:lnTo>
                  <a:pt x="4495" y="1216152"/>
                </a:lnTo>
                <a:lnTo>
                  <a:pt x="4495" y="2356777"/>
                </a:lnTo>
                <a:lnTo>
                  <a:pt x="1367105" y="2356777"/>
                </a:lnTo>
                <a:lnTo>
                  <a:pt x="1367105" y="1216152"/>
                </a:lnTo>
                <a:lnTo>
                  <a:pt x="1371600" y="1216152"/>
                </a:lnTo>
                <a:lnTo>
                  <a:pt x="1367105" y="1212166"/>
                </a:lnTo>
                <a:lnTo>
                  <a:pt x="1367105" y="1210176"/>
                </a:lnTo>
                <a:lnTo>
                  <a:pt x="1364860" y="1210176"/>
                </a:lnTo>
                <a:close/>
              </a:path>
            </a:pathLst>
          </a:cu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A white symbol on a black background&#10;&#10;AI-generated content may be incorrect.">
            <a:extLst>
              <a:ext uri="{FF2B5EF4-FFF2-40B4-BE49-F238E27FC236}">
                <a16:creationId xmlns:a16="http://schemas.microsoft.com/office/drawing/2014/main" id="{35ABD8CC-9CA2-5ACB-7667-DF5E19E6FB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363" r="-12" b="1023"/>
          <a:stretch/>
        </p:blipFill>
        <p:spPr>
          <a:xfrm>
            <a:off x="472594" y="626994"/>
            <a:ext cx="912912" cy="863632"/>
          </a:xfrm>
          <a:prstGeom prst="rect">
            <a:avLst/>
          </a:prstGeom>
        </p:spPr>
      </p:pic>
      <p:pic>
        <p:nvPicPr>
          <p:cNvPr id="6" name="Picture 5" descr="A white shield on a black background&#10;&#10;AI-generated content may be incorrect.">
            <a:extLst>
              <a:ext uri="{FF2B5EF4-FFF2-40B4-BE49-F238E27FC236}">
                <a16:creationId xmlns:a16="http://schemas.microsoft.com/office/drawing/2014/main" id="{8B261325-3C1F-8760-DCE3-D8D29C6342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438" r="10303" b="-11"/>
          <a:stretch/>
        </p:blipFill>
        <p:spPr>
          <a:xfrm>
            <a:off x="3720327" y="10"/>
            <a:ext cx="1172395" cy="1479358"/>
          </a:xfrm>
          <a:prstGeom prst="rect">
            <a:avLst/>
          </a:prstGeom>
        </p:spPr>
      </p:pic>
      <p:sp>
        <p:nvSpPr>
          <p:cNvPr id="34" name="Right Triangle 33">
            <a:extLst>
              <a:ext uri="{FF2B5EF4-FFF2-40B4-BE49-F238E27FC236}">
                <a16:creationId xmlns:a16="http://schemas.microsoft.com/office/drawing/2014/main" id="{E916EF49-F958-4F28-A999-F8FA8D09AF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409062" y="2437565"/>
            <a:ext cx="244200" cy="406635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Picture 8" descr="A white logo with crossed swords&#10;&#10;AI-generated content may be incorrect.">
            <a:extLst>
              <a:ext uri="{FF2B5EF4-FFF2-40B4-BE49-F238E27FC236}">
                <a16:creationId xmlns:a16="http://schemas.microsoft.com/office/drawing/2014/main" id="{FF6B4B28-8CFC-9F0A-8652-2C1B916BFE0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4341" r="-1" b="12770"/>
          <a:stretch/>
        </p:blipFill>
        <p:spPr>
          <a:xfrm>
            <a:off x="5650171" y="635538"/>
            <a:ext cx="3021233" cy="2202131"/>
          </a:xfrm>
          <a:prstGeom prst="rect">
            <a:avLst/>
          </a:prstGeom>
        </p:spPr>
      </p:pic>
      <p:sp>
        <p:nvSpPr>
          <p:cNvPr id="36" name="Right Triangle 35">
            <a:extLst>
              <a:ext uri="{FF2B5EF4-FFF2-40B4-BE49-F238E27FC236}">
                <a16:creationId xmlns:a16="http://schemas.microsoft.com/office/drawing/2014/main" id="{A7665D74-DFEA-412C-928C-F090E67084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1702799" y="3379588"/>
            <a:ext cx="1881096" cy="819195"/>
          </a:xfrm>
          <a:prstGeom prst="rtTriangl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6" name="Picture 15" descr="A group of white chains&#10;&#10;AI-generated content may be incorrect.">
            <a:extLst>
              <a:ext uri="{FF2B5EF4-FFF2-40B4-BE49-F238E27FC236}">
                <a16:creationId xmlns:a16="http://schemas.microsoft.com/office/drawing/2014/main" id="{F8655016-842F-433A-9B78-B3859DEEA02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3226" b="14005"/>
          <a:stretch/>
        </p:blipFill>
        <p:spPr>
          <a:xfrm>
            <a:off x="3046575" y="2837670"/>
            <a:ext cx="2603598" cy="1894630"/>
          </a:xfrm>
          <a:prstGeom prst="rect">
            <a:avLst/>
          </a:prstGeom>
        </p:spPr>
      </p:pic>
      <p:sp>
        <p:nvSpPr>
          <p:cNvPr id="38" name="Right Triangle 37">
            <a:extLst>
              <a:ext uri="{FF2B5EF4-FFF2-40B4-BE49-F238E27FC236}">
                <a16:creationId xmlns:a16="http://schemas.microsoft.com/office/drawing/2014/main" id="{837A7BE2-DF08-4ECE-A520-13927DBF4C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900281" y="5087080"/>
            <a:ext cx="1495517" cy="837806"/>
          </a:xfrm>
          <a:prstGeom prst="rtTriangle">
            <a:avLst/>
          </a:prstGeom>
          <a:solidFill>
            <a:schemeClr val="accent3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08FA-7591-DDF8-807F-CF6A76A79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1472" y="3153048"/>
            <a:ext cx="2779933" cy="3061485"/>
          </a:xfrm>
        </p:spPr>
        <p:txBody>
          <a:bodyPr anchor="ctr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/>
              <a:t>Four basic glyphs: 🛡️ Defense, ⚔️ Attack, ❤️ Healing, ✨ Buff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/>
              <a:t>Two connector glyphs: ⛓️ Link, 🪢 Weave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/>
              <a:t>Create glyphs using three gestures or inputs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/>
              <a:t>Examples: A, B, A (controller), Peace, Rocker, Fist (gesture)</a:t>
            </a:r>
          </a:p>
          <a:p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5438538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" name="Rectangle 60">
            <a:extLst>
              <a:ext uri="{FF2B5EF4-FFF2-40B4-BE49-F238E27FC236}">
                <a16:creationId xmlns:a16="http://schemas.microsoft.com/office/drawing/2014/main" id="{700E0F77-E936-4985-B7B1-B9823486AC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Systems Overview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table with black text and black text&#10;&#10;AI-generated content may be incorrect.">
            <a:extLst>
              <a:ext uri="{FF2B5EF4-FFF2-40B4-BE49-F238E27FC236}">
                <a16:creationId xmlns:a16="http://schemas.microsoft.com/office/drawing/2014/main" id="{CBD60655-DF7C-07BE-A932-F4601FFC0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03" y="591163"/>
            <a:ext cx="7777234" cy="3413951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96337F-47F9-FD16-FAA8-5AB24432B4D6}"/>
              </a:ext>
            </a:extLst>
          </p:cNvPr>
          <p:cNvSpPr txBox="1"/>
          <p:nvPr/>
        </p:nvSpPr>
        <p:spPr>
          <a:xfrm>
            <a:off x="3872039" y="4883544"/>
            <a:ext cx="4940186" cy="1556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The project uses multimodal interactions to cast spells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AB902CB9-C7DC-4673-B7D5-F22DCF0EC5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9CF454-6575-907F-81F1-65C5F23D4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443914"/>
            <a:ext cx="7886696" cy="1499852"/>
          </a:xfrm>
        </p:spPr>
        <p:txBody>
          <a:bodyPr anchor="b"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Control Types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7FBD7EF-228C-716E-10D0-1233C2E15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33" y="703851"/>
            <a:ext cx="1502935" cy="3036235"/>
          </a:xfrm>
          <a:prstGeom prst="rect">
            <a:avLst/>
          </a:prstGeom>
        </p:spPr>
      </p:pic>
      <p:pic>
        <p:nvPicPr>
          <p:cNvPr id="11" name="Picture 10" descr="A screenshot of a phone&#10;&#10;AI-generated content may be incorrect.">
            <a:extLst>
              <a:ext uri="{FF2B5EF4-FFF2-40B4-BE49-F238E27FC236}">
                <a16:creationId xmlns:a16="http://schemas.microsoft.com/office/drawing/2014/main" id="{A680BFD9-B2DE-D1EF-F005-1678256EC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6885" y="703851"/>
            <a:ext cx="1540888" cy="3036235"/>
          </a:xfrm>
          <a:prstGeom prst="rect">
            <a:avLst/>
          </a:prstGeom>
        </p:spPr>
      </p:pic>
      <p:pic>
        <p:nvPicPr>
          <p:cNvPr id="13" name="Picture 12" descr="A screenshot of a computer game&#10;&#10;AI-generated content may be incorrect.">
            <a:extLst>
              <a:ext uri="{FF2B5EF4-FFF2-40B4-BE49-F238E27FC236}">
                <a16:creationId xmlns:a16="http://schemas.microsoft.com/office/drawing/2014/main" id="{914C450E-89B8-8163-E2F7-1008046CB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4175" y="703849"/>
            <a:ext cx="1540888" cy="3036235"/>
          </a:xfrm>
          <a:prstGeom prst="rect">
            <a:avLst/>
          </a:prstGeom>
        </p:spPr>
      </p:pic>
      <p:pic>
        <p:nvPicPr>
          <p:cNvPr id="9" name="Picture 8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54259F9D-5969-11C9-DFD1-986D6D9A0D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0381" y="703851"/>
            <a:ext cx="1540888" cy="3036235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97E9C05-0AD9-4E08-E966-6E720BDC90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0319" y="703851"/>
            <a:ext cx="1563660" cy="303623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15FD9-A264-CE49-4442-5A7C470F4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5115481"/>
            <a:ext cx="7886696" cy="1493070"/>
          </a:xfrm>
        </p:spPr>
        <p:txBody>
          <a:bodyPr>
            <a:normAutofit/>
          </a:bodyPr>
          <a:lstStyle/>
          <a:p>
            <a:pPr algn="ctr"/>
            <a:r>
              <a:rPr lang="en-US" sz="1700" dirty="0">
                <a:solidFill>
                  <a:schemeClr val="bg1"/>
                </a:solidFill>
              </a:rPr>
              <a:t>Each control type has a different way of creating glyphs</a:t>
            </a:r>
          </a:p>
          <a:p>
            <a:pPr algn="ctr"/>
            <a:r>
              <a:rPr lang="en-US" sz="1700" dirty="0">
                <a:solidFill>
                  <a:schemeClr val="bg1"/>
                </a:solidFill>
              </a:rPr>
              <a:t>The control schemes were shown to the user throughout their playthrough</a:t>
            </a:r>
          </a:p>
        </p:txBody>
      </p:sp>
    </p:spTree>
    <p:extLst>
      <p:ext uri="{BB962C8B-B14F-4D97-AF65-F5344CB8AC3E}">
        <p14:creationId xmlns:p14="http://schemas.microsoft.com/office/powerpoint/2010/main" val="39397277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700E0F77-E936-4985-B7B1-B9823486AC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BE9B34-1B37-C675-33A8-DBB1E1E6F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anchor="ctr">
            <a:normAutofit/>
          </a:bodyPr>
          <a:lstStyle/>
          <a:p>
            <a:r>
              <a:rPr lang="en-US" sz="2800" kern="1200">
                <a:latin typeface="+mj-lt"/>
                <a:ea typeface="+mj-ea"/>
                <a:cs typeface="+mj-cs"/>
              </a:rPr>
              <a:t>Controllers</a:t>
            </a:r>
            <a:endParaRPr lang="en-US" sz="28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4C68C0-9AB5-BC84-6DD2-731C3B2738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03" y="1199604"/>
            <a:ext cx="7777234" cy="219706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0E859-16FC-3A9D-A085-C89A8B1BD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2039" y="4883544"/>
            <a:ext cx="4940186" cy="1556907"/>
          </a:xfrm>
        </p:spPr>
        <p:txBody>
          <a:bodyPr anchor="ctr">
            <a:normAutofit/>
          </a:bodyPr>
          <a:lstStyle/>
          <a:p>
            <a:r>
              <a:rPr lang="en-US" sz="1600"/>
              <a:t>Controllers uses the button inputs to create glyphs</a:t>
            </a:r>
          </a:p>
          <a:p>
            <a:r>
              <a:rPr lang="en-US" sz="1600"/>
              <a:t>C1H uses either hand to press the correct button for a glyph</a:t>
            </a:r>
          </a:p>
          <a:p>
            <a:r>
              <a:rPr lang="en-US" sz="1600"/>
              <a:t>C2H uses both hands to press the correct button on both controller</a:t>
            </a:r>
          </a:p>
        </p:txBody>
      </p:sp>
    </p:spTree>
    <p:extLst>
      <p:ext uri="{BB962C8B-B14F-4D97-AF65-F5344CB8AC3E}">
        <p14:creationId xmlns:p14="http://schemas.microsoft.com/office/powerpoint/2010/main" val="23900582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A009B2-5E12-0C34-8FF6-4C4D04C60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7CBD15B8-0BC9-4CCF-A526-A1E45F6F7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0464369-70FA-42AF-948F-80664CA7B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2146816"/>
          </a:xfrm>
          <a:prstGeom prst="rect">
            <a:avLst/>
          </a:prstGeom>
          <a:solidFill>
            <a:schemeClr val="bg1">
              <a:lumMod val="85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8B2A44-1DC3-274A-69E7-030F56375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587" y="349664"/>
            <a:ext cx="4384178" cy="1638377"/>
          </a:xfrm>
        </p:spPr>
        <p:txBody>
          <a:bodyPr anchor="b">
            <a:normAutofit/>
          </a:bodyPr>
          <a:lstStyle/>
          <a:p>
            <a:r>
              <a:rPr lang="en-US" sz="4200" kern="1200">
                <a:latin typeface="+mj-lt"/>
                <a:ea typeface="+mj-ea"/>
                <a:cs typeface="+mj-cs"/>
              </a:rPr>
              <a:t>Gestures</a:t>
            </a:r>
            <a:endParaRPr lang="en-US" sz="420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C552A98-EF7D-4D42-AB69-066B786AB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6888" y="424614"/>
            <a:ext cx="3485526" cy="277908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E04522-2B78-E103-FAAF-D7D0173131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4" r="2747" b="-2"/>
          <a:stretch/>
        </p:blipFill>
        <p:spPr>
          <a:xfrm>
            <a:off x="400900" y="1196338"/>
            <a:ext cx="3176637" cy="1235633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A648176E-454C-437C-B0FC-9B82FCF32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45363" y="6150940"/>
            <a:ext cx="524256" cy="1142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6604B49-AD5C-4590-B051-06C8222E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4433100" y="1760836"/>
            <a:ext cx="524256" cy="88975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D6F001B-9B1B-4EC4-9A93-3773EBC951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6456" y="3428999"/>
            <a:ext cx="3485526" cy="277908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E2C64D-7CF1-0CDF-635C-F243832A7E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48" t="-1" r="139" b="-1"/>
          <a:stretch/>
        </p:blipFill>
        <p:spPr>
          <a:xfrm>
            <a:off x="400900" y="4349550"/>
            <a:ext cx="3176637" cy="9379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07473-C1D4-8B39-AB65-837B29E888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696" y="2620641"/>
            <a:ext cx="4378313" cy="3023702"/>
          </a:xfrm>
        </p:spPr>
        <p:txBody>
          <a:bodyPr anchor="ctr">
            <a:normAutofit/>
          </a:bodyPr>
          <a:lstStyle/>
          <a:p>
            <a:r>
              <a:rPr lang="en-US" sz="1700" dirty="0"/>
              <a:t>G1H uses either hand to create a single gesture</a:t>
            </a:r>
          </a:p>
          <a:p>
            <a:r>
              <a:rPr lang="en-US" sz="1700" dirty="0"/>
              <a:t>G2H uses both hands to both doing the same gesture</a:t>
            </a:r>
          </a:p>
        </p:txBody>
      </p:sp>
    </p:spTree>
    <p:extLst>
      <p:ext uri="{BB962C8B-B14F-4D97-AF65-F5344CB8AC3E}">
        <p14:creationId xmlns:p14="http://schemas.microsoft.com/office/powerpoint/2010/main" val="3772748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82D7B5-0220-4DCD-AF4E-22B53E29A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195918" y="4577975"/>
            <a:ext cx="5654511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A7EB6C-D84F-CCA6-C3C4-FF5EC740F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601" y="4741948"/>
            <a:ext cx="5122140" cy="8620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Combined Gestures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63211-D0C4-B818-8CB1-ECEBE2E5F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2601" y="5839017"/>
            <a:ext cx="5122140" cy="403749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200" kern="1200">
                <a:solidFill>
                  <a:srgbClr val="E7E6E6"/>
                </a:solidFill>
                <a:latin typeface="+mn-lt"/>
                <a:ea typeface="+mn-ea"/>
                <a:cs typeface="+mn-cs"/>
              </a:rPr>
              <a:t>G2H-C uses both hands to create one symbol therefore creating a glyph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D45C10-E788-5618-F039-0F04634E0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27" y="646690"/>
            <a:ext cx="2848177" cy="1360639"/>
          </a:xfrm>
          <a:prstGeom prst="rect">
            <a:avLst/>
          </a:prstGeom>
        </p:spPr>
      </p:pic>
      <p:pic>
        <p:nvPicPr>
          <p:cNvPr id="11" name="Picture 10" descr="A hands forming a triangle&#10;&#10;AI-generated content may be incorrect.">
            <a:extLst>
              <a:ext uri="{FF2B5EF4-FFF2-40B4-BE49-F238E27FC236}">
                <a16:creationId xmlns:a16="http://schemas.microsoft.com/office/drawing/2014/main" id="{7161F115-7032-B167-3C9A-D75AA9132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60" y="2422097"/>
            <a:ext cx="2581799" cy="2013804"/>
          </a:xfrm>
          <a:prstGeom prst="rect">
            <a:avLst/>
          </a:prstGeom>
        </p:spPr>
      </p:pic>
      <p:pic>
        <p:nvPicPr>
          <p:cNvPr id="15" name="Picture 14" descr="A 3d model of a pair of hands&#10;&#10;AI-generated content may be incorrect.">
            <a:extLst>
              <a:ext uri="{FF2B5EF4-FFF2-40B4-BE49-F238E27FC236}">
                <a16:creationId xmlns:a16="http://schemas.microsoft.com/office/drawing/2014/main" id="{B6E00CCA-1680-15B1-4840-ADE3F7925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911" y="1267803"/>
            <a:ext cx="2845104" cy="2219181"/>
          </a:xfrm>
          <a:prstGeom prst="rect">
            <a:avLst/>
          </a:prstGeom>
        </p:spPr>
      </p:pic>
      <p:pic>
        <p:nvPicPr>
          <p:cNvPr id="13" name="Picture 12" descr="A computer generated image of a cross&#10;&#10;AI-generated content may be incorrect.">
            <a:extLst>
              <a:ext uri="{FF2B5EF4-FFF2-40B4-BE49-F238E27FC236}">
                <a16:creationId xmlns:a16="http://schemas.microsoft.com/office/drawing/2014/main" id="{737EC1F1-058B-34D4-1D72-E463ADC90B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4632" y="1266483"/>
            <a:ext cx="2848488" cy="222182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39950" y="5694097"/>
            <a:ext cx="41148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A close-up of a triangle&#10;&#10;AI-generated content may be incorrect.">
            <a:extLst>
              <a:ext uri="{FF2B5EF4-FFF2-40B4-BE49-F238E27FC236}">
                <a16:creationId xmlns:a16="http://schemas.microsoft.com/office/drawing/2014/main" id="{9FB978E5-2553-30E3-6686-B314C0C522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45" y="4525715"/>
            <a:ext cx="2577629" cy="201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426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66">
            <a:extLst>
              <a:ext uri="{FF2B5EF4-FFF2-40B4-BE49-F238E27FC236}">
                <a16:creationId xmlns:a16="http://schemas.microsoft.com/office/drawing/2014/main" id="{7FEAE179-C525-48F3-AD47-0E9E2B6F2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anchor="ctr">
            <a:normAutofit/>
          </a:bodyPr>
          <a:lstStyle/>
          <a:p>
            <a:r>
              <a:rPr lang="en-US" sz="2800"/>
              <a:t>Gameplay Flow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A video game screen with a brick wall and a blackboard&#10;&#10;AI-generated content may be incorrect.">
            <a:extLst>
              <a:ext uri="{FF2B5EF4-FFF2-40B4-BE49-F238E27FC236}">
                <a16:creationId xmlns:a16="http://schemas.microsoft.com/office/drawing/2014/main" id="{A01C95B0-C594-9E44-F6AD-C24F641847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716"/>
          <a:stretch/>
        </p:blipFill>
        <p:spPr>
          <a:xfrm>
            <a:off x="719403" y="364142"/>
            <a:ext cx="7777234" cy="3867993"/>
          </a:xfrm>
          <a:prstGeom prst="rect">
            <a:avLst/>
          </a:prstGeom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03459" y="4905537"/>
            <a:ext cx="5271961" cy="1556907"/>
          </a:xfrm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In-game chalkboard layout</a:t>
            </a:r>
          </a:p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Left (Teacher Board)</a:t>
            </a:r>
          </a:p>
          <a:p>
            <a:pPr lvl="1"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Showing the target glyph sequence and progress indicator.</a:t>
            </a:r>
          </a:p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Center (Control Set Board)</a:t>
            </a:r>
          </a:p>
          <a:p>
            <a:pPr lvl="1"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listing the current glyph–input assignments. </a:t>
            </a:r>
          </a:p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Right (Student Board) </a:t>
            </a:r>
          </a:p>
          <a:p>
            <a:pPr lvl="1"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Where the user’s inputs appear with immediate green/red feedback.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1299" y="321733"/>
            <a:ext cx="8660121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Right Triangle 25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356072" cy="4480726"/>
          </a:xfrm>
        </p:spPr>
        <p:txBody>
          <a:bodyPr>
            <a:normAutofit/>
          </a:bodyPr>
          <a:lstStyle/>
          <a:p>
            <a:pPr algn="r"/>
            <a:r>
              <a:rPr lang="en-US" sz="4000"/>
              <a:t>Objectives &amp; Lessons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54196" y="1338729"/>
            <a:ext cx="3596688" cy="4180542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9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Tutorial: learn which button or gesture produces each glyph</a:t>
            </a:r>
          </a:p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9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Glyph Lesson. Participants combine glyphs to form spells. 8 spells are needed to pass.</a:t>
            </a:r>
          </a:p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9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Spell Lesson. Participants cast 16 spells with real-time visual feedback (spell effects and environmental changes) to simulate the final trial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3F70F2-BF2D-722F-43F3-8973B095C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9C54E95E-EF2B-4F27-9DF4-29FCA95168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person holding a white object&#10;&#10;AI-generated content may be incorrect.">
            <a:extLst>
              <a:ext uri="{FF2B5EF4-FFF2-40B4-BE49-F238E27FC236}">
                <a16:creationId xmlns:a16="http://schemas.microsoft.com/office/drawing/2014/main" id="{4C1B7CD0-3B32-E496-8CB0-843D99A379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" b="13660"/>
          <a:stretch/>
        </p:blipFill>
        <p:spPr>
          <a:xfrm>
            <a:off x="2300289" y="692616"/>
            <a:ext cx="1787106" cy="2743202"/>
          </a:xfrm>
          <a:prstGeom prst="rect">
            <a:avLst/>
          </a:prstGeom>
        </p:spPr>
      </p:pic>
      <p:pic>
        <p:nvPicPr>
          <p:cNvPr id="5" name="Picture 4" descr="A person wearing a virtual reality headset&#10;&#10;AI-generated content may be incorrect.">
            <a:extLst>
              <a:ext uri="{FF2B5EF4-FFF2-40B4-BE49-F238E27FC236}">
                <a16:creationId xmlns:a16="http://schemas.microsoft.com/office/drawing/2014/main" id="{4E5E434C-2F89-A2E9-24E0-3CB4F6EB65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338" r="2667"/>
          <a:stretch/>
        </p:blipFill>
        <p:spPr>
          <a:xfrm>
            <a:off x="514348" y="692621"/>
            <a:ext cx="1810421" cy="27432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9518F4-CD00-487C-2CD8-080AD5407F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1" b="495"/>
          <a:stretch/>
        </p:blipFill>
        <p:spPr>
          <a:xfrm>
            <a:off x="514346" y="3429002"/>
            <a:ext cx="3571875" cy="2743201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B8AF3F2D-63F1-4537-ADE7-A62A71AE95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0" y="0"/>
            <a:ext cx="457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F2A462-6F30-EBB0-9C65-9557BA709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8259" y="685796"/>
            <a:ext cx="3282159" cy="1605521"/>
          </a:xfrm>
        </p:spPr>
        <p:txBody>
          <a:bodyPr anchor="b">
            <a:normAutofit/>
          </a:bodyPr>
          <a:lstStyle/>
          <a:p>
            <a:r>
              <a:rPr lang="en-US" sz="2800">
                <a:solidFill>
                  <a:srgbClr val="595959"/>
                </a:solidFill>
              </a:rPr>
              <a:t>Experiment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A255B-847C-CBAD-FEC1-5FF59F7F8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258" y="2578189"/>
            <a:ext cx="3282159" cy="3594010"/>
          </a:xfrm>
        </p:spPr>
        <p:txBody>
          <a:bodyPr anchor="t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15 participants 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Ages 16 to 49 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4 women and 11 men 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M = 21.46, 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Mdn = 18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Participants had varying degrees of experience with VR and gaming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lang="en-US" sz="170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534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0A8D24-8F38-276C-F438-8C53D69B5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92E3F52-F4C3-FA7C-D1A6-66C1B8CE5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F15A1F-E1FA-13DD-0EA0-2F140A414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4049B5-2DF0-675E-813E-F63412235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433" y="381935"/>
            <a:ext cx="3294056" cy="5974414"/>
          </a:xfrm>
        </p:spPr>
        <p:txBody>
          <a:bodyPr anchor="ctr">
            <a:normAutofit/>
          </a:bodyPr>
          <a:lstStyle/>
          <a:p>
            <a:r>
              <a:rPr lang="en-US" sz="4900" dirty="0">
                <a:solidFill>
                  <a:srgbClr val="FFFFFF"/>
                </a:solidFill>
              </a:rPr>
              <a:t>Results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A6FEF64-8713-25D9-6166-63600B6226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4C44A3A2-3D4B-0E1F-BB94-0F5FCE8F62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F14D42CB-0B1D-D812-65E9-3B3E952FFB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482834E6-C4AA-A7CB-9790-2D0FF5A33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97B9B-AF86-A9E9-B1FA-365E51528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2924" y="518400"/>
            <a:ext cx="3578706" cy="5837949"/>
          </a:xfrm>
        </p:spPr>
        <p:txBody>
          <a:bodyPr anchor="ctr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800" dirty="0">
                <a:solidFill>
                  <a:schemeClr val="tx1">
                    <a:alpha val="80000"/>
                  </a:schemeClr>
                </a:solidFill>
              </a:rPr>
              <a:t>Measurements were taken for three different factors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800" dirty="0">
                <a:solidFill>
                  <a:schemeClr val="tx1">
                    <a:alpha val="80000"/>
                  </a:schemeClr>
                </a:solidFill>
              </a:rPr>
              <a:t>Time </a:t>
            </a:r>
          </a:p>
          <a:p>
            <a:pPr lvl="1"/>
            <a:r>
              <a:rPr lang="en-US" sz="1800" dirty="0"/>
              <a:t>Average input time </a:t>
            </a:r>
          </a:p>
          <a:p>
            <a:pPr lvl="1"/>
            <a:r>
              <a:rPr lang="en-US" sz="1800" dirty="0"/>
              <a:t>Lesson completion time</a:t>
            </a:r>
          </a:p>
          <a:p>
            <a:r>
              <a:rPr lang="en-US" sz="1800" dirty="0">
                <a:solidFill>
                  <a:schemeClr val="tx1">
                    <a:alpha val="80000"/>
                  </a:schemeClr>
                </a:solidFill>
              </a:rPr>
              <a:t>Accuracy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800" dirty="0">
                <a:solidFill>
                  <a:schemeClr val="tx1">
                    <a:alpha val="80000"/>
                  </a:schemeClr>
                </a:solidFill>
              </a:rPr>
              <a:t>User preference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lang="en-US" sz="1700" dirty="0">
              <a:solidFill>
                <a:schemeClr val="tx1">
                  <a:alpha val="80000"/>
                </a:schemeClr>
              </a:solidFill>
            </a:endParaRPr>
          </a:p>
          <a:p>
            <a:pPr>
              <a:defRPr sz="2000">
                <a:solidFill>
                  <a:srgbClr val="FFFFFF"/>
                </a:solidFill>
              </a:defRPr>
            </a:pPr>
            <a:endParaRPr lang="en-US" sz="17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C7A6B1-6044-7681-3EC0-01F14F2F13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67785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700E0F77-E936-4985-B7B1-B9823486AC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4C251E-34D1-5371-7CA7-41540AE35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Average Input Time 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5FFD2E-56CD-E980-BC97-E4784AA1EE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t="1621" r="-2417"/>
          <a:stretch/>
        </p:blipFill>
        <p:spPr>
          <a:xfrm>
            <a:off x="460456" y="-2666"/>
            <a:ext cx="8295128" cy="460161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7A196E-8E95-E4E6-A039-242560CC399E}"/>
              </a:ext>
            </a:extLst>
          </p:cNvPr>
          <p:cNvSpPr txBox="1"/>
          <p:nvPr/>
        </p:nvSpPr>
        <p:spPr>
          <a:xfrm>
            <a:off x="3872039" y="4883544"/>
            <a:ext cx="4940186" cy="1556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Tutorial Input Average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Glyph Lesson Input Average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Spell Lesson Input Average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Slowest: Gesture Two-Handed Combined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Less Present in the Tutorial Lesson 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All other control types are in the normal range of each other</a:t>
            </a:r>
          </a:p>
        </p:txBody>
      </p:sp>
    </p:spTree>
    <p:extLst>
      <p:ext uri="{BB962C8B-B14F-4D97-AF65-F5344CB8AC3E}">
        <p14:creationId xmlns:p14="http://schemas.microsoft.com/office/powerpoint/2010/main" val="19155230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0F8B52-4EC5-EBB7-C823-D8F9D6F2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5D45B116-CE6C-F839-D91E-5B5F0C5604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6D50A2-E79F-4829-2787-AA1D79C0A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9727" y="1567453"/>
            <a:ext cx="2710751" cy="663677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l" defTabSz="914400">
              <a:lnSpc>
                <a:spcPct val="90000"/>
              </a:lnSpc>
            </a:pPr>
            <a:r>
              <a:rPr lang="en-US" sz="4500" dirty="0"/>
              <a:t>Accuracy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A5411CE-2462-853C-3E88-AFCE8EA6B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7554" y="466613"/>
            <a:ext cx="2252594" cy="2675212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D674F4-0553-0ECB-EF8D-31561A238B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5760" y="3610394"/>
            <a:ext cx="2249273" cy="2674644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90D3B96-86FE-09C7-AC8F-BA7FDD8F3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49861" y="2065135"/>
            <a:ext cx="2252594" cy="2675212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641FFD-CFD1-514B-C7A7-61A0990B3339}"/>
              </a:ext>
            </a:extLst>
          </p:cNvPr>
          <p:cNvSpPr txBox="1"/>
          <p:nvPr/>
        </p:nvSpPr>
        <p:spPr>
          <a:xfrm>
            <a:off x="5249373" y="2421362"/>
            <a:ext cx="3279894" cy="510189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Gesture One-Hand was significantly less accurate in the tutorial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During the other lessons, it became more accurate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Over spell and glyph lessons, gestures were slightly more accurate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Gesture Two-Hand Combined was accurate to learn, but hard to reproduce over the lessons.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7C82B22-11C3-F7BA-97A2-A8B492714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0F584F-A1DA-48C7-7262-3C825C509D59}"/>
              </a:ext>
            </a:extLst>
          </p:cNvPr>
          <p:cNvSpPr txBox="1"/>
          <p:nvPr/>
        </p:nvSpPr>
        <p:spPr>
          <a:xfrm>
            <a:off x="467547" y="835701"/>
            <a:ext cx="19207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Tutorial Input Accuracy </a:t>
            </a:r>
          </a:p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E2781F-28A5-67B1-9EC2-0D270DF70E55}"/>
              </a:ext>
            </a:extLst>
          </p:cNvPr>
          <p:cNvSpPr txBox="1"/>
          <p:nvPr/>
        </p:nvSpPr>
        <p:spPr>
          <a:xfrm>
            <a:off x="2926217" y="2329846"/>
            <a:ext cx="1899879" cy="6401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" algn="ctr" defTabSz="914400"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Glyph Lesson Accuracy</a:t>
            </a:r>
          </a:p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DD9691-D7B2-74F6-DF64-E5EEC3C7D5B3}"/>
              </a:ext>
            </a:extLst>
          </p:cNvPr>
          <p:cNvSpPr txBox="1"/>
          <p:nvPr/>
        </p:nvSpPr>
        <p:spPr>
          <a:xfrm>
            <a:off x="59203" y="3888704"/>
            <a:ext cx="2553244" cy="640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" algn="ctr" defTabSz="914400"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Spell Lesson Input Accuracy  </a:t>
            </a:r>
          </a:p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F05BF2-6550-19B6-730C-A7CC8FFBE3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18" y="1213492"/>
            <a:ext cx="2178425" cy="13716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1BB70B-64E3-772A-8CD0-E96222CA6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946" y="2716941"/>
            <a:ext cx="2178423" cy="1371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B5F4197-9299-DD6D-87E4-121928394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184" y="4286510"/>
            <a:ext cx="2178423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050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990F14-8CE6-2E1F-C05A-981C714CA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C6D6ECC8-F4A2-1E33-08D3-DDECABA26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85708D-BAA8-69CB-9ADA-0C17E1A66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 Time 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E9810BB-D0AA-0E15-623D-3F790CD53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966EBED-68AA-33C1-B406-47827B64F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82209CD-93EC-1FCD-32D7-138CEF26DE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t="1964" r="414" b="64"/>
          <a:stretch/>
        </p:blipFill>
        <p:spPr>
          <a:xfrm>
            <a:off x="494746" y="-182035"/>
            <a:ext cx="8260838" cy="4692653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03EFF3A9-3F0B-6DF7-7738-8B2CD99BB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BF048E-A551-645B-31F8-1BC14D3DBC63}"/>
              </a:ext>
            </a:extLst>
          </p:cNvPr>
          <p:cNvSpPr txBox="1"/>
          <p:nvPr/>
        </p:nvSpPr>
        <p:spPr>
          <a:xfrm>
            <a:off x="3872039" y="4883544"/>
            <a:ext cx="4940186" cy="1556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Glyph Lesson (Left)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Spell Lesson (Right)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Slowest: Gesture Two-Handed Combined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All other control types are in the normal range of each other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Lines up with the data found in Average Input Time</a:t>
            </a:r>
          </a:p>
        </p:txBody>
      </p:sp>
    </p:spTree>
    <p:extLst>
      <p:ext uri="{BB962C8B-B14F-4D97-AF65-F5344CB8AC3E}">
        <p14:creationId xmlns:p14="http://schemas.microsoft.com/office/powerpoint/2010/main" val="36885620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9E930-3D50-5BC9-9865-0B771449D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A32AB-0227-754E-2C5B-BB6233DAE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050" y="1128094"/>
            <a:ext cx="2575635" cy="141527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Accuracy vs. </a:t>
            </a: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Input Time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7ED7575E-88D2-B771-681D-46A7E55415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682342" cy="6858000"/>
          </a:xfrm>
          <a:prstGeom prst="rect">
            <a:avLst/>
          </a:prstGeom>
          <a:solidFill>
            <a:schemeClr val="bg1">
              <a:lumMod val="95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40FBCF-8403-994E-BE08-0E2B11D021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8" y="1496208"/>
            <a:ext cx="5652858" cy="3872206"/>
          </a:xfrm>
          <a:prstGeom prst="rect">
            <a:avLst/>
          </a:prstGeom>
        </p:spPr>
      </p:pic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249EDD1B-F94D-B4E6-ACAA-566B9A26F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149542" y="871146"/>
            <a:ext cx="552704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AF4090D-75EC-9CD3-CD2D-5DE4EE88596D}"/>
              </a:ext>
            </a:extLst>
          </p:cNvPr>
          <p:cNvSpPr txBox="1"/>
          <p:nvPr/>
        </p:nvSpPr>
        <p:spPr>
          <a:xfrm>
            <a:off x="5915051" y="2009710"/>
            <a:ext cx="3216887" cy="35990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Controller One-Hand (Blue)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Inaccurate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Very Fast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Controller Two-Hand (Red)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Slightly Accurate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Moderate Input Speed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Gesture One-Hand (Purple)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Very Inaccurate 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Fast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Gesture Two-Hand (Orange)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Very Accurate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Fast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Gesture Combined (Green)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Accurate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Very Slow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Gesture Two-Hand was the most efficient, looking at accuracy vs time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8909591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BE5DBE-B3B2-901E-7ABE-040E9D659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8A8A7075-6D6B-D34E-12AF-1EA90F271C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78CB71-EEC0-608D-2C96-5D360884E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User Preference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764BCA5-147B-1ACD-7EC5-7FE9DE401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1B0D7CB-E03F-B51A-91EF-C493A9EBFD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B8A6C4D-029F-DD92-8F68-60F860B095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496" b="6496"/>
          <a:stretch/>
        </p:blipFill>
        <p:spPr>
          <a:xfrm>
            <a:off x="494746" y="-182035"/>
            <a:ext cx="8260838" cy="4692653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5AFBF50A-FBB1-DD90-670E-E3A5B0FAC5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8567B8-8C5B-ABC2-3C13-D7DDA7115F6F}"/>
              </a:ext>
            </a:extLst>
          </p:cNvPr>
          <p:cNvSpPr txBox="1"/>
          <p:nvPr/>
        </p:nvSpPr>
        <p:spPr>
          <a:xfrm>
            <a:off x="3872039" y="4883544"/>
            <a:ext cx="4940186" cy="1556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0614" indent="-285750" algn="l" rtl="0" eaLnBrk="1" latinLnBrk="0" hangingPunct="1">
              <a:lnSpc>
                <a:spcPct val="90000"/>
              </a:lnSpc>
              <a:spcAft>
                <a:spcPts val="600"/>
              </a:spcAft>
              <a:buClrTx/>
              <a:buSzPts val="1700"/>
              <a:buFont typeface="Arial" panose="020B0604020202020204" pitchFamily="34" charset="0"/>
              <a:buChar char="•"/>
            </a:pPr>
            <a:r>
              <a:rPr lang="en-US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Participants did not like 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</a:rPr>
              <a:t>G2H-C</a:t>
            </a:r>
          </a:p>
          <a:p>
            <a:pPr marL="340614" indent="-285750" algn="l" rtl="0" eaLnBrk="1" latinLnBrk="0" hangingPunct="1">
              <a:lnSpc>
                <a:spcPct val="90000"/>
              </a:lnSpc>
              <a:spcAft>
                <a:spcPts val="600"/>
              </a:spcAft>
              <a:buClrTx/>
              <a:buSzPts val="1700"/>
              <a:buFont typeface="Arial" panose="020B0604020202020204" pitchFamily="34" charset="0"/>
              <a:buChar char="•"/>
            </a:pPr>
            <a:r>
              <a:rPr lang="en-US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Participants preferred gestures to controllers</a:t>
            </a:r>
            <a:endParaRPr lang="en-US" sz="1400" dirty="0">
              <a:effectLst/>
            </a:endParaRPr>
          </a:p>
          <a:p>
            <a:pPr marL="340614" indent="-285750" algn="l" rtl="0" eaLnBrk="1" latinLnBrk="0" hangingPunct="1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Participants preferred one hand over two</a:t>
            </a:r>
            <a:endParaRPr lang="en-US" sz="1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66039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D45250-0536-C65A-0127-7B296E7BB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6453AA7-6701-B9D3-0E12-9E40AAA0F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655E02-410C-222E-AA5F-D119FFA7B4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7425AB-1B66-94B1-3C05-F54BB47E0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433" y="381935"/>
            <a:ext cx="3294056" cy="5974414"/>
          </a:xfrm>
        </p:spPr>
        <p:txBody>
          <a:bodyPr anchor="ctr">
            <a:normAutofit/>
          </a:bodyPr>
          <a:lstStyle/>
          <a:p>
            <a:r>
              <a:rPr lang="en-US" sz="4900" dirty="0">
                <a:solidFill>
                  <a:srgbClr val="FFFFFF"/>
                </a:solidFill>
              </a:rPr>
              <a:t>Conclusions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87A8482-2BE5-DDAB-7B32-76D7B58532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7758B4A4-D43E-4112-F8BB-2F17F9550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9CC58411-932C-6376-4B92-DEDC586B1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2BBFF88B-02B9-F9FF-D839-4C90657BCF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4B1CE-988B-D345-A925-F410E36D18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2924" y="518400"/>
            <a:ext cx="3578706" cy="5837949"/>
          </a:xfrm>
        </p:spPr>
        <p:txBody>
          <a:bodyPr anchor="ctr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Most Efficient Control Type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300" dirty="0">
                <a:solidFill>
                  <a:schemeClr val="tx1">
                    <a:alpha val="80000"/>
                  </a:schemeClr>
                </a:solidFill>
              </a:rPr>
              <a:t>Gesture two-handed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Participant Preferred Control Type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300" dirty="0">
                <a:solidFill>
                  <a:schemeClr val="tx1">
                    <a:alpha val="80000"/>
                  </a:schemeClr>
                </a:solidFill>
              </a:rPr>
              <a:t>Gesture one-handed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alpha val="80000"/>
                  </a:schemeClr>
                </a:solidFill>
              </a:rPr>
              <a:t>Less accurate than its two-handed counterpart</a:t>
            </a:r>
            <a:r>
              <a:rPr lang="en-US" sz="1300" dirty="0">
                <a:solidFill>
                  <a:schemeClr val="tx1">
                    <a:alpha val="80000"/>
                  </a:schemeClr>
                </a:solidFill>
              </a:rPr>
              <a:t>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G2H-C was almost universally disliked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endParaRPr lang="en-US" sz="13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44BE9E5-36E3-7F78-0164-C71819A75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8068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96A5A0-2096-26C9-2285-45B577F88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701C25-A752-205F-B454-23D9F15AB6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C9CA3F-E64A-4BE3-CE93-054C4DD97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5DAC9D-1049-78B3-891E-6E6153BED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433" y="381935"/>
            <a:ext cx="3294056" cy="5974414"/>
          </a:xfrm>
        </p:spPr>
        <p:txBody>
          <a:bodyPr anchor="ctr">
            <a:normAutofit/>
          </a:bodyPr>
          <a:lstStyle/>
          <a:p>
            <a:r>
              <a:rPr lang="en-US" sz="4900" dirty="0">
                <a:solidFill>
                  <a:srgbClr val="FFFFFF"/>
                </a:solidFill>
              </a:rPr>
              <a:t>What I Learned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7164DA6-AB76-8B38-C159-4FBF7A75C9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4409A3F7-2F0A-D1CB-D065-8632BC249B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809F31CA-53FE-CC8E-CCDA-4DB968A10C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02DE94D9-DE64-CEB6-6E4E-8F2963C67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939DE-A8CF-ABCB-78DE-5B2AE76C6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2924" y="518400"/>
            <a:ext cx="3578706" cy="5837949"/>
          </a:xfrm>
        </p:spPr>
        <p:txBody>
          <a:bodyPr anchor="ctr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Better Utilize Unity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How multimodal devices change interaction with the experience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Coding and Project skills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lang="en-US" sz="17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B303817-6230-80A6-8DB8-4098B64ECF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48778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1614</TotalTime>
  <Words>679</Words>
  <Application>Microsoft Office PowerPoint</Application>
  <PresentationFormat>On-screen Show (4:3)</PresentationFormat>
  <Paragraphs>121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Rosy's Wizards 465</vt:lpstr>
      <vt:lpstr>About the Project</vt:lpstr>
      <vt:lpstr>Building The Prototype</vt:lpstr>
      <vt:lpstr>Classroom Design</vt:lpstr>
      <vt:lpstr>Creating Magical Effects</vt:lpstr>
      <vt:lpstr>Dialogue and Narrative </vt:lpstr>
      <vt:lpstr>Basic Spell System</vt:lpstr>
      <vt:lpstr>Systems Overview</vt:lpstr>
      <vt:lpstr>Control Types</vt:lpstr>
      <vt:lpstr>Controllers</vt:lpstr>
      <vt:lpstr>Gestures</vt:lpstr>
      <vt:lpstr>Combined Gestures</vt:lpstr>
      <vt:lpstr>Gameplay Flow</vt:lpstr>
      <vt:lpstr>Objectives &amp; Lessons</vt:lpstr>
      <vt:lpstr>Experiment</vt:lpstr>
      <vt:lpstr>Results</vt:lpstr>
      <vt:lpstr>Average Input Time </vt:lpstr>
      <vt:lpstr>Accuracy</vt:lpstr>
      <vt:lpstr>Completion Time </vt:lpstr>
      <vt:lpstr>Accuracy vs. Input Time</vt:lpstr>
      <vt:lpstr>User Preference</vt:lpstr>
      <vt:lpstr>Conclusions</vt:lpstr>
      <vt:lpstr>What I Learned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Rose</dc:creator>
  <cp:keywords/>
  <dc:description>generated using python-pptx</dc:description>
  <cp:lastModifiedBy>Ordway,Rose</cp:lastModifiedBy>
  <cp:revision>8</cp:revision>
  <dcterms:created xsi:type="dcterms:W3CDTF">2013-01-27T09:14:16Z</dcterms:created>
  <dcterms:modified xsi:type="dcterms:W3CDTF">2025-05-08T23:37:31Z</dcterms:modified>
  <cp:category/>
</cp:coreProperties>
</file>